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2cb4202-898b-8153-fca6-08a2e15e930a}">
          <p14:sldIdLst>
            <p14:sldId id="256"/>
            <p14:sldId id="257"/>
            <p14:sldId id="258"/>
            <p14:sldId id="259"/>
          </p14:sldIdLst>
        </p14:section>
        <p14:section name="1. 자동화 시스템의 구성" id="{c07d95c2-02c2-efb4-42c2-85770f38d78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2. 제조공정 분석" id="{09d5381e-d582-1f4b-5441-470b44d6aece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3. 스마트팩토리" id="{9829e357-66ea-5751-b103-bda119d81aba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4. 디지털트윈" id="{3b72e43c-d1fa-b7a7-7598-afdafbb11b0c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5. 디지털트윈 시연" id="{3ee5f459-da81-09af-8fcd-d6871ddb2681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6. 자동화 수준 진단" id="{e109e54f-0c44-18d4-7cc5-7fbbb841cc70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생산자동화관리 과정의 첫날입니다. 오늘은 코드를 거의 쓰지 않고, 자동화 설비를 어떻게 이해하고 관리할지 큰 그림을 잡습니다.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결과물은 모두 종이나 표로 남는 분석 자료입니다. 이후 4일 동안 이 분석을 바탕으로 설비를 직접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B과정은 Unity를 설치하지 않고 빌드본만 씁니다. Python은 5교시 시연에서 강사 PC로만 실행합니다. 원하는 수강생은 부록의 설치 가이드를 따라 직접 설치할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오전에는 자동화와 공정 분석, 오후에는 스마트팩토리와 디지털트윈을 다룹니다. 마지막 교시에는 조별로 각자 회사나 관심 공정을 진단합니다.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1교시는 자동화 설비가 어떤 부품으로 이루어지는지 봅니다. 이 과정 내내 쓸 컨베이어를 예로 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어떤 자동화 설비든 이 네 부분으로 나눠 보면 이해가 쉬워집니다. 앞으로 문제가 생겼을 때도 네 부분 중 어디 문제인지부터 좁혀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박스가 오른쪽 끝에 도착했을 때 일어나는 일을 순서대로 따라갑니다. 센서, 판단, 구동, 표시의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ISA-95는 공장의 시스템을 층으로 나누는 국제 표준 모델입니다. 오늘 컨베이어 실습은 주로 Level 0에서 2까지를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위로 갈수록 정보가 요약되고 주기가 길어집니다. 계층 사이를 잇는 통신이 4일차 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공장 전체를 다룰 수는 없지만, 컨베이어 한 대로 계층 구조를 모두 경험할 수 있게 실습을 구성했습니다.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자동화 관리자의 역할이 무엇인지 생각해 보게 합니다. 이 과정의 이름이 생산자동화관리인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컨베이어도 PLC 프로그램만 바꾸면 다른 동작을 하게 할 수 있습니다. 3일차와 5일차에 실제로 제어 방식을 바꿔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
Q1. 센서(Sensor01·02), 제어기(PLC), 구동기(모터), 상위 시스템(HMI·MES 등)
Q2. Level 2 (감시·제어)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2교시는 공정을 분석하는 기본 도구 세 가지를 컨베이어로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컨베이어는 단순하지만 투입, 이송, 감지, 반전의 단계가 있습니다. 실제 공정도 같은 방식으로 나눠 그립니다.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사이클타임은 공정 관리의 가장 기본 숫자입니다. 오늘은 공식보다 직접 재 보는 데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 기준점을 맞추지 않으면 조원마다 값이 다릅니다. 이것도 실제 현장에서 자주 겪는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숫자를 미리 알려 주지 않습니다. 각 조가 잰 값을 비교하며 측정 오차를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병목은 공정 관리에서 가장 중요한 개념 중 하나입니다. 개선 노력은 병목에 집중해야 효과가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숫자는 설명을 위한 가상 값입니다. 병목이 아닌 공정을 개선해도 전체가 빨라지지 않는다는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컨베이어 한 대에도 시간을 잡아먹는 요소가 있습니다. 이후 일차에서 하나씩 직접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측정이 먼저입니다. 이 과정의 디지털트윈은 실물을 멈추지 않고 측정하고 바꿔 볼 수 있다는 점에서 유용합니다.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3교시는 스마트팩토리가 무엇이고, 어떤 시스템으로 이루어지는지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스마트팩토리는 장비 이름이 아니라 단계입니다. 연결, 가시화, 분석, 최적화로 갈수록 수준이 높아집니다.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수준 구분은 국내 스마트공장 보급 사업에서 널리 쓰입니다. 세부 판정 기준은 해마다 바뀔 수 있으므로 기관 자료를 확인하라고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ERP는 경영, MES는 현장 운영, PLC는 설비 제어입니다. 세 시스템이 연결되어야 계획과 실제가 맞아집니다.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MES가 가운데에서 계획과 현장을 잇습니다. 이 과정에서는 PLC와 설비 사이 연결을 직접 다루고, 그 위는 개념으로만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 기능은 회사마다 다르지만 이 네 가지가 기본입니다. 4일차에 PLC 데이터를 수집하는 실습이 실적 수집의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공장이 한 번에 바뀌지는 않습니다. 6교시 진단표로 우리 공정이 어디쯤인지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기술보다 운영이 더 어려운 경우가 많습니다. 생산자동화 관리자가 이 연결을 책임지는 역할입니다.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4교시는 디지털트윈입니다. 이 과정에서 쓰는 Unity 컨베이어가 바로 디지털트윈의 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디지털트윈의 핵심은 연결입니다. 가상 모델이 실물의 상태를 받고, 때로는 실물에 명령을 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3D 모델이라도 연결 방식에 따라 이름이 달라집니다. 우리 Unity 컨베이어는 제어기와 신호를 주고받으므로 양방향 구조를 연습할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실습에서는 실물 대신 Unity 컨베이어가 설비 역할을 합니다. 덕분에 실제 설비를 멈추거나 망가뜨릴 걱정 없이 제어 프로그램을 시험할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모두 이 과정에서 직접 경험합니다. 산업 현장에서도 가상 시운전과 교육이 가장 먼저 도입되는 분야입니다.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시뮬레이션은 디지털트윈의 한 부분이 될 수 있지만 같은 말은 아닙니다. 실제 신호와 연결되어 있는지가 차이입니다.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것을 똑같이 만들 필요는 없습니다. 목적에 필요한 신호와 정확도만 맞추면 됩니다. 우리 실습은 센서 2개와 모터 방향만 맞췄습니다.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
Q1. 모델: 연결 없음 / 섀도: 실물 → 가상 / 트윈: 실물 ↔ 가상
Q2. Modbus TCP (20ms 주기, 포트 1502)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5교시는 강사가 시연합니다. 수강생은 빌드본을 함께 켜고 구성 요소를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스크립트는 PLC Ladder와 같은 규칙으로 동작합니다. 제어기만 바뀌고 Unity는 그대로라는 점을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코드를 모두 이해할 필요는 없습니다. Sensor01이면 오른쪽, Sensor02면 왼쪽이라는 규칙 두 줄만 보면 됩니다. 이 규칙이 3일차 Ladder와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수강생은 시연을 보며 2교시의 사이클타임 기록표를 채웁니다. 시연이 끝나면 각 조의 값을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답: 센서 Sensor01·Sensor02 (Level 1), 구동기 컨베이어 모터 LEFT·RIGHT (Level 0~1), 제어기 Conveyor_cycle.py (Level 2), 통신 Modbus TCP, 상위 표시 Unity 상태 화면 (Level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레지스터 맵은 이 과정 전체의 약속입니다. 2진수 비트가 왜 2와 1로 보이는지는 4일차에 자세히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Conveyor_cycle.py는 Lost 비트를 따로 처리하지 않습니다. 그래서 이상 상황 대응이 왜 PLC 프로그램에 필요한지 3일차에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시연에서 확인한 세 가지가 남은 4일의 주제로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6교시는 조별 과제입니다. 각자의 회사나 관심 공정을 하나 골라 진단합니다.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 정보를 공개할 필요는 없습니다. 공정의 모양과 수준만 이야기하면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진단표는 교육용으로 만든 단순화된 기준입니다. 공식 인증 기준이 아니라는 점을 분명히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 과제를 이 과정의 일차와 연결하면 남은 4일을 듣는 목적이 생깁니다.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짧게 하고, 다른 조와 비슷한 점과 다른 점을 강사가 정리해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진단표는 장비 목록이 아니라 운영 방식을 보는 도구입니다. 데이터를 실제로 쓰는지가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시연 위주라 문제가 적습니다. 빌드본 실행 문제만 미리 확인해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
Q1. 센서, 제어기, 구동기, 상위 시스템
Q2. MES Level 3, ERP Level 4
Q3. 늘지 않는다. 가장 느린 공정(병목)이 전체 속도를 정한다
Q4. 실물(또는 제어기)과의 데이터 연결
Q5. 1 (LEFT, bit0)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큰 그림을 잡았습니다. 내일은 그 그림 속 센서와 모터가 전기적으로 어떻게 연결되는지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생산자동화관리  ·  1일차  생산자동화 및 스마트팩토리 이해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ython.org/downloads/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생산자동화관리  ·  1일차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생산자동화 및 스마트팩토리 이해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자동화 시스템의 구성과 스마트팩토리·디지털트윈의 큰 그림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</a:rPr>
              <a:t>5일 × 6시간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자동화 시스템의 구성 요소와 계층(ISA-95)을 설명한다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컨베이어 공정을 흐름도·사이클타임·병목으로 분석한다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스마트팩토리와 디지털트윈을 우리 공정에 대입해 진단한다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 만들 결과물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9456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컨베이어 공정 흐름도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사이클타임 측정 기록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구성 요소 찾기 활동지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조별 자동화 수준 진단표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오늘은 시연만 합니다. 수강생 PC에는 Unity 빌드본만 있으면 됩니다.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Unity 빌드본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ConveyorURP · Unity 설치 불필요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강사가 배포한 BuildWin 폴더 복사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ConveyorURP.exe 실행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모드: Controller 선택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IP 127.0.0.1 · 포트 1502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Python 3.12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시연용 · 강사 PC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설치 시 "Add python.exe to PATH" 체크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pip install pymodbus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pymodbus 3.16.1은 Python 3.10 이상 필요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시연 파일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AI_Training/Conveyor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Conveyor_cycle.py · 자동 왕복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modbus_server.py · Modbus 서버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두 파일 모두 프로젝트 폴더에 있음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자동화 시스템 구성(센서·제어기·구동기·상위 시스템), ISA-95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제조공정 분석: 공정 흐름도, 사이클타임, 병목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스마트팩토리 개념과 수준, MES·ERP 연계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디지털트윈 기술과 활용 사례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시연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컨베이어 디지털트윈 자동 왕복 시연, 구성 요소 찾기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조별 과제: 우리 공정 자동화 수준 진단표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자동화 시스템의 구성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센서 · 제어기 · 구동기 · 상위 시스템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자동화 설비는 네 부분으로 나뉜다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사람의 감각·두뇌·손발·관리자를 기계로 바꾼 것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센서 (감각)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상태를 신호로 바꾼다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컨베이어: 양 끝의 박스 감지 센서 2개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제어기 (두뇌)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신호를 보고 동작을 결정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PLC, 이 과정에서는 CODESYS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3631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6491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구동기 (손발)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5927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결정을 실제 움직임으로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컨베이어 모터 왼쪽·오른쪽 회전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403631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26491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상위 시스템 (관리자)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85927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상태를 모으고 지시를 내림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HMI, MES, 데이터 수집 PC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컨베이어 한 대의 신호 흐름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박스 도착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오른쪽 끝에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박스가 온다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센서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PLC 판단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방향을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왼쪽으로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모터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LEFT 출력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역회전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상위 시스템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상태 화면에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표시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이 과정에서는 실제 컨베이어 대신 Unity로 만든 디지털트윈 컨베이어를 씁니다. 신호 흐름은 실물과 같습니다.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자동화 피라미드 (ISA-95)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아래는 빠르고 단순한 신호, 위로 갈수록 느리고 넓은 정보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5603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Level 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공정 자체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센서·모터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96312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43784" y="237744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5603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Level 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감지·조작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I/O 신호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91456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237744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76088" y="25603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Level 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감시·제어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PLC·HMI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4072" y="237744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71232" y="25603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Level 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571232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생산 운영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81744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29216" y="237744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66376" y="256032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Level 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866376" y="315468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경영 계획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ERP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계층별로 무엇을 다루는가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347472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계층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대표 시스템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다루는 정보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시간 단위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Level 4 · 경영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ERP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주문, 자재, 원가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일 · 주 · 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Level 3 · 운영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작업지시, 생산 실적, 품질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시간 · 교대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Level 2 · 감시·제어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PLC, HMI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설비 상태, 알람, 운전 명령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초 · 밀리초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Level 1 · 감지·조작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센서, 구동기 I/O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ON/OFF, 아날로그 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밀리초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Level 0 · 공정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컨베이어, 기계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실제 물체의 움직임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연속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우리 실습 장비를 계층에 대입하면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Level 0 · 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Unity 속 컨베이어와 박스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Sensor01·Sensor02, 모터 LEFT·RIGHT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Level 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CODESYS PLC의 Ladder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Unity 상태 화면이 HMI 역할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Level 3 이상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Python으로 데이터 수집·분석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5일차 AI 제어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수동 운전과 자동 운전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수동 운전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작업자가 버튼으로 모터를 움직임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작업자의 판단·숙련도에 따라 결과가 다름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작업자가 자리를 비우면 멈춤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자동 운전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센서 신호로 PLC가 판단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항상 같은 순서·같은 조건으로 동작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사람은 감시와 이상 대응을 맡음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자동화는 사람을 없애는 것이 아니라, 사람의 역할을 운전에서 관리로 옮기는 것입니다.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고정 자동화와 유연 자동화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고정 자동화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 가지 제품만 대량으로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 변경이 어렵고 비쌈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예: 전용 조립 라인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유연 자동화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프로그램 변경으로 여러 제품 대응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PLC·로봇·디지털 정보 활용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스마트팩토리가 지향하는 방향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1교시 확인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자동화 설비의 네 부분을 쓰고, 컨베이어에서 각각 무엇인지 예를 드시오.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703320"/>
            <a:ext cx="10332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ISA-95에서 PLC와 HMI는 몇 번째 계층인가?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제조공정 분석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공정 흐름도 · 사이클타임 · 병목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컨베이어 왕복 공정 흐름도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박스 투입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왼쪽 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오른쪽 이송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RIGHT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도착 감지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오른쪽 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Sensor02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왼쪽 이송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LEFT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복귀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왕복 1회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흐름도는 공정을 단계로 나눠 그린 그림입니다. 단계를 나눠야 각 단계의 시간과 문제를 따로 볼 수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공정 분석에서 쓰는 시간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사이클타임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 단위 작업을 끝내는 데 걸리는 시간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예: 왕복 1회에 걸리는 시간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가공·이송 시간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실제로 가치를 만드는 시간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움직이는 시간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대기 시간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아무 일도 일어나지 않는 시간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방향 전환 대기, 정지 상태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55339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분석의 목표는 대기 시간을 찾아 줄이는 것입니다.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사이클타임 재는 방법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시연 중 왕복 1회 시간을 직접 잰다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박스가 Sensor01을 떠나는 순간 스톱워치 시작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Sensor02 도착 시각 기록 (편도)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다시 Sensor01에 도착하면 정지 (왕복)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같은 측정을 3회 반복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평균과 가장 긴 값을 기록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측정 기준점을 조원끼리 맞추기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편도·왕복을 구분해 기록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튀는 값은 원인 메모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사이클타임 측정 기록표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10896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회차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편도 (S1 → S2, 초)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왕복 (S1 → S1, 초)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특이 사항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평균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값은 시연을 보며 직접 채운다. 5교시 시연에서 다시 사용한다.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병목이란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여러 공정 중 가장 느린 공정이 전체 속도를 정한다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정의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처리 능력이 가장 낮은 공정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앞에는 재공이 쌓이고 뒤는 기다림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찾는 법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공정별 사이클타임 비교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재공이 쌓이는 곳 관찰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원칙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병목이 아닌 곳을 빠르게 해도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전체 생산량은 늘지 않는다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병목 예시 (가상의 세 공정)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공정 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20초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640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73880" y="201168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1040" y="21945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공정 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11040" y="278892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35초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가장 느림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5164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9120" y="201168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6280" y="21945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공정 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36280" y="278892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25초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설명용 예시 값입니다. 이 라인은 35초마다 한 개씩만 나옵니다. A를 10초로 줄여도 결과는 같고, B를 줄여야 빨라집니다.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컨베이어 공정에서 볼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방향 전환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도착 후 반전까지 걸리는 시간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제어기 응답 속도와 관련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박스 이탈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WorkpieceLost가 생기면 공정 중단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원인을 찾는 데 시간이 든다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통신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제어기와 20ms마다 신호 교환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통신이 끊기면 설비가 멈춤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개선은 어떻게 하나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흔한 실수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모든 공정을 조금씩 빠르게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측정 없이 감으로 판단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 교체부터 생각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권장 순서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흐름도를 그리고 시간을 잰다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병목과 대기 시간을 찾는다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프로그램·배치부터 바꿔 본다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스마트팩토리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개념 · 수준 · MES와 ERP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스마트팩토리란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설비·사람·시스템이 데이터로 연결되어 스스로 개선하는 공장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연결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 데이터를 실시간으로 수집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센서·PLC·MES가 이어짐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가시화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현재 상태를 화면으로 본다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알람과 이력을 남긴다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3631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6491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분석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5927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쌓인 데이터로 원인을 찾는다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병목, 불량, 고장 패턴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403631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26491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최적화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85927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분석 결과로 운전을 바꾼다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AI 제어, 자동 조정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스마트공장 수준 (국내 보급 기준의 단계)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480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수준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특징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컨베이어로 보면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기초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생산 실적 등을 시스템으로 관리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왕복 횟수를 기록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중간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설비 데이터 실시간 수집·모니터링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화면에서 센서·모터 상태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중간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수집 데이터로 분석·제어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데이터 수집과 분석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고도화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스스로 판단하고 최적화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AI가 학습해 제어 (5일차)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단계 이름은 국내 스마트공장 보급 사업에서 쓰는 구분이며, 세부 기준은 기관 자료로 확인한다.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ERP · MES · PLC의 역할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4846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시스템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주된 질문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대표 기능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ERP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무엇을 얼마나 만들까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주문, 생산계획, 자재, 원가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지금 현장은 어떻게 돌아가나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작업지시, 실적 수집, 품질, 추적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PLC · HMI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설비를 어떻게 움직일까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 판단, 모터 제어, 알람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계획은 내려가고 실적은 올라온다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ERP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생산 계획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수량·납기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MES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작업지시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실적 집계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PLC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운전 명령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상태 수집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설비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센서·모터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실제 동작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지시는 왼쪽에서 오른쪽으로, 실적과 상태는 오른쪽에서 왼쪽으로 흐릅니다. 이 연결이 끊긴 곳이 개선 대상입니다.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MES가 하는 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작업지시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오늘 무엇을 몇 개 만들지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설비·작업자별로 배분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실적 수집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생산 수량과 시간 기록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데이터를 자동 수집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품질 관리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검사 결과 기록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불량 원인 추적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이력 추적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어느 설비에서 언제 만들었나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문제 시 범위를 좁힘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기존 공장과 스마트팩토리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기존 공장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종이 작업일지, 수기 집계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문제는 사후에 알게 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경험 많은 사람에게 의존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스마트팩토리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설비 데이터를 자동 수집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이상을 실시간 알람으로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데이터로 원인 분석·개선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도입할 때 흔히 막히는 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데이터가 없다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오래된 설비는 통신이 안 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PLC 신호부터 꺼내는 작업 필요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연결이 안 된다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설비마다 통신 방식이 다름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Modbus 등 공통 방식 필요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쓸 사람이 없다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화면은 있는데 아무도 안 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운영 규칙과 교육이 함께 필요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디지털트윈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실물과 쌍둥이처럼 연결된 가상 모델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디지털트윈의 세 요소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물리 대상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실제 설비, 공정, 공장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예: 실물 컨베이어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가상 모델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컴퓨터 속 같은 모양·동작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예: Unity 컨베이어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연결 (데이터)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둘 사이를 오가는 데이터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예: Modbus 신호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7911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세 번째 요소인 연결이 있어야 단순한 3D 모델이나 시뮬레이션과 구분됩니다.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연결 수준에 따른 구분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394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데이터 방향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디지털 모델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연결 없음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모양과 동작만 흉내 낸 가상 모델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디지털 섀도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실물 → 가상 (한 방향)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실물 상태가 가상 모델에 반영됨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디지털 트윈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실물 ↔ 가상 (양방향)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가상에서 판단해 실물에도 영향을 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우리 실습의 디지털트윈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 컨베이어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센서·모터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가상 설비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640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73880" y="201168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1040" y="21945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Modbus TCP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11040" y="278892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20ms마다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신호 교환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5164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9120" y="201168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6280" y="21945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제어기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36280" y="278892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CODESYS PLC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또는 Python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Unity가 보낸 센서 신호(HR0)를 제어기가 읽고, 제어기가 쓴 명령(HR10)대로 Unity 컨베이어가 움직입니다.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디지털트윈은 어디에 쓰나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가상 시운전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설비가 오기 전에 PLC 프로그램 검증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3일차에 직접 해 본다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교육·훈련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위험 상황을 안전하게 재현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 이탈, 통신 끊김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모니터링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현재 상태를 3D로 한눈에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Unity 상태 화면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AI 학습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실물 대신 가상으로 시행착오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5일차 AI 제어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시뮬레이션과 디지털트윈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시뮬레이션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가정한 조건으로 미리 계산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실물과 연결되지 않음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설계 단계에서 주로 사용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디지털트윈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실제 신호와 연결되어 동작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실물 상태를 반영하고 따라감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운영 단계까지 계속 사용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도입 전에 확인할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목적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무엇을 줄이거나 높이려는가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시운전? 교육? 모니터링?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데이터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설비에서 꺼낼 수 있는 신호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통신 방식과 주기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정확도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가상 모델이 얼마나 실물과 같아야 하나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목적에 맞는 수준이면 충분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4교시 확인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디지털 모델, 디지털 섀도, 디지털 트윈을 데이터 방향으로 구분하시오.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703320"/>
            <a:ext cx="10332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우리 실습에서 Unity와 제어기를 잇는 통신 방식은?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디지털트윈 시연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Conveyor_cycle.py로 자동 왕복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시연 구성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 빌드본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Controller 모드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클라이언트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640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73880" y="201168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11040" y="21945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Modbus TCP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11040" y="278892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127.0.0.1:1502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5164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9120" y="2011680"/>
            <a:ext cx="341376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36280" y="219456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Conveyor_cycle.py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36280" y="2788920"/>
            <a:ext cx="313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Python이 서버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자동 왕복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오늘은 PLC 대신 Python이 제어기 역할을 합니다. 같은 동작을 3일차에는 CODESYS PLC로 만듭니다.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자동 왕복 규칙 (Python)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AI_Training/Conveyor/Conveyor_cycle.py (일부)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modbus_server as mb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cycle():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direction = 2  # RIGHT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sensor = await mb.read_hr(0)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sensor &amp; 1:       # Sensor01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direction = 2    # RIGHT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sensor &amp; 2:     # Sensor02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direction = 1    # LEFT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mb.write_hr(10, direction)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asyncio.sleep(0.05)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asyncio.gather(mb.start_server(), cycle())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HR0를 읽어 센서 확인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 → RIGHT(2)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Sensor02 → LEFT(1)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HR10에 쓰고 0.05초 대기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시연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720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720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ConveyorURP.exe 실행, Controller 모드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686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68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5646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4172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41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4132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Conveyor_cycle.py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92658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265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2618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Unity가 연결되면 박스를 컨베이어에 올림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71144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114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51104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박스가 양 끝 센서 사이를 자동 왕복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9630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4963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295900"/>
            <a:ext cx="667512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Ctrl+C로 종료 → 컨베이어 정지 확인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Unity 연결 상태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센서 표시가 켜졌다 꺼짐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모터 방향 표시 전환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사이클타임 측정 (2교시 표)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구성 요소 찾기 활동지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9496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구성 요소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시연에서 찾은 것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계층 (ISA-95)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구동기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제어기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통신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상위 표시 (HMI)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예시 답은 발표자 노트에 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화면에서 신호 읽기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Unity 상태 화면의 값이 레지스터와 같다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HR0 · 센서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bit0 Sensor01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bit1 Sensor02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bit2 WorkpieceLost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HR10 · 명령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bit0 LEFT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bit1 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bit2 RESET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값 읽는 예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HR10 = 2 → 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HR10 = 1 → LEFT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HR10 = 0 → 정지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이상 상황 관찰하기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시연 중 박스를 컨베이어 밖으로 떨어뜨림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WorkpieceLost 표시가 켜지는지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스크립트를 강제 종료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Unity에 통신 끊김이 표시되는지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스크립트를 다시 실행 → 재연결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Lost 상황에서 무엇이 멈추나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통신이 끊기면 모터는?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재연결까지 걸린 시간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시연에서 확인한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같은 규칙, 다른 제어기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오늘은 Python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3일차에는 CODESYS PLC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측정할 수 있다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사이클타임을 실제로 재 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설비를 멈추지 않고 분석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이상 대응이 필요하다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단순 규칙은 Lost를 모름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알람·인터록 설계가 필요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6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자동화 수준 진단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조별 과제 · 우리 공정은 어디쯤인가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진단 진행 순서 (40분)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조별로 진단할 공정 하나를 정한다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공정 흐름도를 5단계 이내로 그린다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자동화 구성 요소를 네 부분으로 나눠 적는다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진단표 항목별로 현재 수준(1~4)을 표시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가장 낮은 항목의 개선 과제를 하나 정한다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실제 회사 이름·수치는 필요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추측이면 "추정"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개선 과제는 구체적으로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자동화 수준 진단표</a:t>
            </a:r>
            <a:endParaRPr lang="en-US" sz="3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 수동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2 부분 자동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3 연결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4 지능화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설비 운전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사람이 조작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PLC 자동 운전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원격 감시·제어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스스로 조정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데이터 수집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수기 기록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설비 화면에서 확인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자동 수집·저장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분석에 활용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정보 연결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없음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설비 단위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MES와 연결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ERP까지 연결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이상 대응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사람이 발견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알람 표시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알람 이력 관리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예측·예방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표준·교육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구두 전달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작업 표준서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디지털 매뉴얼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디지털트윈 교육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각 항목에서 현재 수준에 동그라미를 친다. 수준 구분은 이 과정에서 만든 학습용 기준이다.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개선 과제 정리 양식</a:t>
            </a:r>
            <a:endParaRPr lang="en-US" sz="3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393192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현재 수준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목표 수준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첫 번째 개선 과제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이 과정에서 배울 일차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예: 데이터 수집 1 → 3, "PLC 신호를 자동 수집", 4일차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발표 구성 (조별 3분)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1. 공정 소개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흐름도 한 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구성 요소 네 부분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2. 진단 결과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진단표의 표시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가장 낮은 항목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3. 개선 과제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목표 수준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첫 번째 할 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진단할 때 자주 하는 실수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장비만 본다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최신 장비가 있어도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데이터를 안 쓰면 수준이 낮음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한 번에 4단계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1에서 4로 바로 가기 어렵다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 단계씩 올린다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측정 없이 판단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사이클타임·알람 기록부터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숫자로 현재를 확인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나는 문제와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ConveyorURP.exe가 실행되지 않음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755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빌드 폴더 전체를 복사했는지 확인 (Data 폴더 포함)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Unity가 연결되지 않음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898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514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514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Controller 모드, IP 127.0.0.1, 포트 1502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Address already in use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041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657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657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다른 Modbus 서버(CODESYS, Python)를 종료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800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python 명령을 찾을 수 없음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5184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800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800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Python 재설치 시 "Add python.exe to PATH" 체크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자동화 설비의 네 부분을 쓰시오.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0428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ISA-95에서 MES와 ERP는 각각 몇 번째 계층인가?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36976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병목이 아닌 공정을 빠르게 하면 전체 생산량은 어떻게 되는가?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96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디지털트윈을 단순한 3D 모델과 구분하는 요소는?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시연에서 Sensor02가 켜지면 Conveyor_cycle.py는 HR10에 어떤 값을 쓰는가?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자동화 설비는 센서·제어기·구동기·상위 시스템으로 나뉜다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ISA-95는 공장 시스템을 Level 0~4로 나눈다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공정 분석은 흐름도 → 사이클타임 → 병목 순서로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ERP는 계획, MES는 현장 운영, PLC는 설비 제어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디지털트윈의 핵심은 실물과의 데이터 연결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다음 시간  2일차 · 자동화 설비의 전기·제어 기초</a:t>
            </a:r>
            <a:endParaRPr lang="en-US" sz="16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actory Steel">
  <a:themeElements>
    <a:clrScheme name="SmartFactory Steel">
      <a:dk1>
        <a:srgbClr val="1B2733"/>
      </a:dk1>
      <a:lt1>
        <a:srgbClr val="FFFFFF"/>
      </a:lt1>
      <a:dk2>
        <a:srgbClr val="17324D"/>
      </a:dk2>
      <a:lt2>
        <a:srgbClr val="EEF2F5"/>
      </a:lt2>
      <a:accent1>
        <a:srgbClr val="F2A900"/>
      </a:accent1>
      <a:accent2>
        <a:srgbClr val="2E9E6B"/>
      </a:accent2>
      <a:accent3>
        <a:srgbClr val="D64545"/>
      </a:accent3>
      <a:accent4>
        <a:srgbClr val="3D7EA6"/>
      </a:accent4>
      <a:accent5>
        <a:srgbClr val="7A8794"/>
      </a:accent5>
      <a:accent6>
        <a:srgbClr val="C9D3DC"/>
      </a:accent6>
      <a:hlink>
        <a:srgbClr val="1F6FB2"/>
      </a:hlink>
      <a:folHlink>
        <a:srgbClr val="6B4FA0"/>
      </a:folHlink>
    </a:clrScheme>
    <a:fontScheme name="SmartFactory Stee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생산자동화관리 1일차 - 생산자동화 및 스마트팩토리 이해</dc:title>
  <dc:subject>PptxGenJS Presentation</dc:subject>
  <dc:creator>TWINIEX</dc:creator>
  <cp:lastModifiedBy>TWINIEX</cp:lastModifiedBy>
  <cp:revision>1</cp:revision>
  <dcterms:created xsi:type="dcterms:W3CDTF">2026-10-19T04:09:18Z</dcterms:created>
  <dcterms:modified xsi:type="dcterms:W3CDTF">2026-10-19T04:09:18Z</dcterms:modified>
</cp:coreProperties>
</file>