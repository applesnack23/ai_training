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</p:sldIdLst>
  <p:notesMasterIdLst>
    <p:notesMasterId r:id="rId6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c6d0277d-7957-2c97-2dfa-8d520f453919}">
          <p14:sldIdLst>
            <p14:sldId id="256"/>
            <p14:sldId id="257"/>
            <p14:sldId id="258"/>
            <p14:sldId id="259"/>
            <p14:sldId id="260"/>
          </p14:sldIdLst>
        </p14:section>
        <p14:section name="1. 전장 구성과 도면 기호" id="{370dbaee-2574-d9ff-fc2b-1b7406489db4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2. 산업용 센서" id="{69ed669a-406a-87a1-10f6-04048704b194}">
          <p14:sldIdLst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3. 액추에이터와 정역회전" id="{e76a3e8b-0e27-05c5-f9c1-342cf81d1bb3}">
          <p14:sldIdLst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</p14:sldIdLst>
        </p14:section>
        <p14:section name="4. 실습 · PLC I/O 분석" id="{1660b2d5-ae09-b721-fc32-3df931a3a28d}">
          <p14:sldIdLst>
            <p14:sldId id="288"/>
            <p14:sldId id="289"/>
            <p14:sldId id="290"/>
            <p14:sldId id="291"/>
            <p14:sldId id="292"/>
            <p14:sldId id="293"/>
            <p14:sldId id="294"/>
          </p14:sldIdLst>
        </p14:section>
        <p14:section name="5. 실습 · 정역회전과 LEFT·RIGHT" id="{7e4c604e-9e67-e2ff-90ba-36be52aedbde}">
          <p14:sldIdLst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</p14:sldIdLst>
        </p14:section>
        <p14:section name="6. 실습 · CODESYS I/O 매핑" id="{f6973234-f6d0-4f1b-4719-c27efe21e2c7}">
          <p14:sldIdLst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notesMaster" Target="notesMasters/notesMaster1.xml"/><Relationship Id="rId61" Type="http://schemas.openxmlformats.org/officeDocument/2006/relationships/presProps" Target="presProps.xml"/><Relationship Id="rId62" Type="http://schemas.openxmlformats.org/officeDocument/2006/relationships/viewProps" Target="viewProps.xml"/><Relationship Id="rId63" Type="http://schemas.openxmlformats.org/officeDocument/2006/relationships/theme" Target="theme/theme1.xml"/><Relationship Id="rId6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컨베이어 설비의 전기 쪽을 다룹니다. 도면 기호에서 시작해 센서와 모터, PLC 입출력, 그리고 디지털트윈의 레지스터 비트까지 한 줄로 연결하는 것이 목표입니다.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가지 목표를 먼저 공유합니다. 결과물은 오늘 실습 시간에 직접 채우는 표와 CODESYS 프로젝트입니다.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B과정은 Unity 에디터를 설치하지 않고 빌드본만 씁니다. CODESYS는 Windows 전용이므로 macOS 수강생은 강사 PC 시연을 함께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설치 문제는 쉬는 시간에 개별로 봐 줍니다. Python은 5교시에 준비된 스크립트를 실행만 하므로 코딩은 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오전 세 교시는 이론, 오후 세 교시는 실습입니다. 4교시부터는 오전에 배운 기호와 회로를 실제 도면과 디지털트윈에서 찾습니다.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1교시는 이론입니다. 도면 기호를 외우기보다 각 부품이 전기 흐름에서 맡는 역할을 이해하는 것이 목표입니다.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어느 설비든 전원, 보호, 변환, 제어, 부하 순서로 읽으면 됩니다. 오늘 도면도 이 순서로 페이지가 나뉘어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부품 이름보다 역할로 기억하게 합니다. 특히 단자대 번호가 도면과 실물을 잇는 열쇠라는 점을 강조합니다.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코일 단자 A1, A2는 오늘 도면에도 여러 번 나옵니다. 문자 기호는 회사마다 조금씩 달라서 도면 범례를 먼저 확인하는 습관을 들입니다.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b접점을 정지 회로에 쓰는 이유가 핵심입니다. 단선이 일어나도 정지되는 페일세이프 개념으로 연결해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키트는 DC 소형 모터라 릴레이 모듈로 충분합니다. 현장의 3상 모터는 전자접촉기와 열동 계전기를 함께 쓴다는 점을 대비해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표는 도면 파일에서 실제로 읽어 낸 부품 이름입니다. 4교시 실습에서 학생들이 직접 각 폴리오를 열어 이 표를 채워 보게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전압이 다른 두 계통이 함께 있다는 점이 중요합니다. 실물 점검에서 5V 쪽에 12V가 들어가면 센서가 손상될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도면에 3-G13 같은 표기가 있는데 페이지 번호와 격자 위치입니다. 같은 릴레이의 코일과 접점이 다른 페이지에 있을 때 이 번호로 찾아갑니다.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2교시는 센서입니다. 센서 종류와 함께 PLC 입력 카드와 배선 형식을 맞추는 법을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센서의 차이는 감지 원리와 대상입니다. 박스 재질에 따라 유도형 근접 센서는 감지하지 못할 수 있다는 점을 짚어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현장에서는 감지 대상의 재질과 설치 공간으로 센서를 고릅니다. 표의 주의 칸이 실제 고장 원인으로 자주 나옵니다.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NPN과 PNP는 신호를 어느 쪽으로 당기느냐의 차이입니다. 싱크·소스 명칭은 제조사마다 반대로 쓰기도 하니 반드시 입력 카드 매뉴얼의 결선도를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도면에는 BR, BK, BL로 표기되어 있습니다. 색 약어가 회사마다 조금 달라도 갈색 전원, 검정 신호, 파랑 0V는 거의 같습니다.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실물 키트 센서와 디지털트윈 센서를 나란히 보여 줍니다. 디지털트윈은 감지 영역에 박스가 들어오면 ON이 되는 이상적인 센서라고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Unity 센서는 박스가 감지 영역에 들어오고 나가는 것을 셉니다. 실제 센서의 감지 거리와 같은 역할을 하는 영역이 Collider로 만들어져 있다고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센서 고장인지 배선 문제인지 PLC 문제인지 구간을 나눠 확인하는 것이 핵심입니다. 디지털트윈에서는 IOMapUI 화면이 PLC 입력 램프 역할을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정답이 하나가 아닌 문제도 있습니다. 이유를 말할 수 있으면 정답으로 인정합니다.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3교시는 모터와 실린더입니다. 정역회전 회로의 인터록이 오늘 오후와 내일 Ladder의 핵심 개념입니다.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컨베이어 벨트는 모터가, 분류나 정지는 실린더가 맡는 경우가 많습니다. 오늘 중심은 모터의 정역회전입니다.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자기유지는 오늘과 내일 PLC Ladder에서 그대로 다시 나옵니다. 릴레이 회로에서 먼저 이해하면 Ladder가 쉬워집니다.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인터록이 없으면 무엇이 일어나는지 먼저 질문해 봅니다. 단락과 차단기 트립이라는 답이 나오면 인터록의 필요성을 자연스럽게 정리할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소프트웨어 인터록만 믿으면 안 되는 이유를 짚습니다. PLC 출력 카드 고장으로 출력이 붙어 버리는 경우가 있기 때문입니다.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L298N은 H-브리지 드라이버입니다. IN1과 IN2를 반대로 주면 회전 방향이 바뀌고, 둘이 같으면 정지합니다. 이 성질이 디지털트윈의 LEFT·RIGHT 규칙과 그대로 닮았습니다.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인버터를 쓰면 전자접촉기 두 개로 하던 정역 회로가 인버터 안으로 들어갑니다. PLC는 운전 신호와 방향 신호만 주면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실린더는 이번 키트에는 없지만 현장 컨베이어 분류 공정에서 자주 만납니다. 복동 실린더의 전진·후진 신호도 정역회전처럼 동시에 주지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정역 제어는 두 신호의 조합 문제입니다. 1·1을 금지 상태로 기억하게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4교시부터 실습입니다. QElectroTech로 실제 키트 도면을 열고 표를 채웁니다.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센서부터 모터까지 신호 경로를 한 번에 보여 줍니다. 입력 카드와 출력 카드가 현장 전압과 PLC 내부의 0과 1을 바꾸는 통역 역할을 한다고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실물 PLC와 실습 환경의 대응 관계를 분명히 합니다. 입출력 카드 대신 Modbus TCP로 디지털트윈과 신호를 주고받습니다.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오른쪽 정답 예시는 학생들이 다 적은 뒤에 보여 줍니다. 실제 도면에서 찾은 값이라 학생 결과와 바로 비교할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표가 오늘의 첫 번째 결과물입니다. 릴레이 CR1과 CR2의 정확한 용도는 SEQUENCE 폴리오의 코일과 접점 연결을 따라가며 함께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실물 PLC라면 Modbus 칸 대신 입력 카드의 단자 번호가 들어갑니다. 디지털트윈에서는 Holding Register의 비트가 단자 역할을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배선 추적은 고장 진단의 기본기입니다. 도면의 3-G13 같은 교차 참조 번호를 실제로 써 보게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5교시는 디지털트윈에서 정역회전 규칙을 직접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현장의 접촉기 코일 대신 레지스터 비트가 방향을 결정합니다. 디지털트윈의 ConveyorBelt.cs가 모터와 벨트 역할을 동시에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줄이 핵심입니다. 디지털트윈은 둘 다 1이면 안전하게 멈추도록 만들어져 있지만, 현장 회로는 인터록이 없으면 단락이 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코드를 한 줄씩 읽지 않아도 됩니다. moveLeft와 moveRight가 같으면 return, 즉 아무 것도 하지 않는다는 한 가지만 짚어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디지털트윈에서 검증한 프로그램을 실제 설비에 내려받는 것이 가상 시운전의 목적입니다. 그래서 디지털트윈에서도 현장과 같은 인터록을 넣습니다.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il_collect_manual.py는 원래 모방학습 데이터를 모으는 도구지만, 오늘은 키보드 정역 스위치로 씁니다. 같은 포트 1502를 쓰므로 CODESYS PLC는 멈춰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수동 운전의 불편함과 위험을 느끼게 한 뒤 자동운전의 필요성으로 이어 갑니다. RESET 비트는 Unity의 ConveyorResetController.cs가 상승 에지에서 박스를 초기 위치로 되돌립니다.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HR10 값은 비트 조합을 10진수로 읽은 값입니다. LEFT는 1, RIGHT는 2라는 점에서 비트와 숫자의 관계를 자연스럽게 보여 줄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6교시는 CODESYS로 레지스터와 PLC 변수를 연결합니다. 내일 Ladder 실습의 바탕이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버전에 따라 장치 이름이 ModbusTCP Slave Device로 보일 수 있습니다. 같은 장치입니다.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Writable을 켜야 Unity가 쓴 센서 값과 PLC가 쓴 명령 값이 같은 레지스터 영역에 함께 있을 수 있습니다. Bind to Adapter를 끄지 않으면 127.0.0.1로 접속이 안 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GVL은 프로젝트 전체에서 쓰는 전역 변수 목록입니다. 배열 두 개가 레지스터 20개와 일대일로 대응한다는 점을 강조합니다.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PLC 프로그램은 ToPlc를 절대 쓰지 않습니다. 센서 값은 Unity만 씁니다. 이 규칙을 지키지 않으면 PLC가 센서 값을 덮어써서 오동작합니다.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레지스터 비트를 바로 Ladder에 쓰면 읽기 어렵습니다. 그래서 먼저 이름 있는 변수로 옮기고, 내일 그 변수로 자동 왕복 회로를 만듭니다.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Ladder 자동 로직 없이 변수 값을 손으로 써서 연결만 확인합니다. il_collect_manual.py가 켜져 있으면 포트가 겹치니 반드시 먼저 종료합니다.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오늘의 핵심 그림입니다. 내일은 이 연결 위에 자동 왕복 Ladder를 올립니다.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흔한 문제는 포트 충돌과 I/O 매핑 누락입니다. 증상에서 원인을 찾는 순서로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정답을 맞힌 뒤 왜 그런지 한 문장으로 말하게 합니다.
정답
Q1. 단선 등 고장이 나도 회로가 열려 정지 쪽으로 동작하기 때문(페일세이프)
Q2. 0V 쪽 (싱크형 출력)
Q3. 검정 (BK)
Q4. 인터록
Q5. 정지한다 (ConveyorBelt.cs: moveLeft == moveRight이면 움직이지 않음)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만든 I/O 매핑 프로젝트를 저장해 두라고 안내합니다. 내일 이 프로젝트에 Ladder를 이어서 작성합니다.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48840"/>
            <a:ext cx="106070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57600"/>
            <a:ext cx="106070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794"/>
                </a:solidFill>
              </a:rPr>
              <a:t>생산자동화관리  ·  2일차  자동화 설비의 전기·제어 기초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qelectrotech.org/" TargetMode="External"/><Relationship Id="rId2" Type="http://schemas.openxmlformats.org/officeDocument/2006/relationships/hyperlink" Target="https://store.codesys.com/en/codesys.html" TargetMode="Externa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17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A900"/>
                </a:solidFill>
              </a:rPr>
              <a:t>생산자동화관리  ·  2일차</a:t>
            </a:r>
            <a:endParaRPr lang="en-US" sz="18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14884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자동화 설비의 전기·제어 기초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657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전장 도면을 읽고, 센서·모터가 PLC I/O에 어떻게 연결되는지 이해하기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5394960"/>
            <a:ext cx="384048" cy="384048"/>
          </a:xfrm>
          <a:prstGeom prst="ellipse">
            <a:avLst/>
          </a:prstGeom>
          <a:solidFill>
            <a:srgbClr val="2B4A68"/>
          </a:solidFill>
          <a:ln w="12700">
            <a:solidFill>
              <a:srgbClr val="2B4A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" y="5394960"/>
            <a:ext cx="384048" cy="384048"/>
          </a:xfrm>
          <a:prstGeom prst="ellipse">
            <a:avLst/>
          </a:prstGeom>
          <a:solidFill>
            <a:srgbClr val="2B4A68"/>
          </a:solidFill>
          <a:ln w="12700">
            <a:solidFill>
              <a:srgbClr val="2B4A6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5394960"/>
            <a:ext cx="384048" cy="384048"/>
          </a:xfrm>
          <a:prstGeom prst="ellipse">
            <a:avLst/>
          </a:prstGeom>
          <a:solidFill>
            <a:srgbClr val="2B4A68"/>
          </a:solidFill>
          <a:ln w="12700">
            <a:solidFill>
              <a:srgbClr val="2B4A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49424" y="5394960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16352" y="5394960"/>
            <a:ext cx="384048" cy="384048"/>
          </a:xfrm>
          <a:prstGeom prst="ellipse">
            <a:avLst/>
          </a:prstGeom>
          <a:solidFill>
            <a:srgbClr val="2B4A68"/>
          </a:solidFill>
          <a:ln w="12700">
            <a:solidFill>
              <a:srgbClr val="2B4A6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5394960"/>
            <a:ext cx="384048" cy="384048"/>
          </a:xfrm>
          <a:prstGeom prst="ellipse">
            <a:avLst/>
          </a:prstGeom>
          <a:solidFill>
            <a:srgbClr val="2B4A68"/>
          </a:solidFill>
          <a:ln w="12700">
            <a:solidFill>
              <a:srgbClr val="2B4A6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50208" y="5394960"/>
            <a:ext cx="384048" cy="384048"/>
          </a:xfrm>
          <a:prstGeom prst="ellipse">
            <a:avLst/>
          </a:prstGeom>
          <a:solidFill>
            <a:srgbClr val="2B4A68"/>
          </a:solidFill>
          <a:ln w="12700">
            <a:solidFill>
              <a:srgbClr val="2B4A6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54406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DC"/>
                </a:solidFill>
              </a:rPr>
              <a:t>5일 × 6시간 과정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오늘의 목표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457200" cy="45720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41732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733"/>
                </a:solidFill>
              </a:rPr>
              <a:t>전장 도면의 기호와 부품 역할을 설명한다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457200" cy="45720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46888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733"/>
                </a:solidFill>
              </a:rPr>
              <a:t>센서·액추에이터가 PLC I/O에 연결되는 방식을 설명한다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457200" cy="45720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52044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733"/>
                </a:solidFill>
              </a:rPr>
              <a:t>정역회전 인터록을 디지털트윈 LEFT·RIGHT와 대응시킨다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818120" y="1371600"/>
            <a:ext cx="3822192" cy="4480560"/>
          </a:xfrm>
          <a:prstGeom prst="roundRect">
            <a:avLst>
              <a:gd name="adj" fmla="val 2871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92440" y="16459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오늘 만들 결과물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2194560"/>
            <a:ext cx="33375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도면 부품표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컨베이어 I/O 할당표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CODESYS I/O 매핑 프로젝트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오늘 쓰는 도구 · 설치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도면은 QElectroTech, PLC는 CODESYS 3.5(Windows 전용)를 씁니다.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35680" cy="4297680"/>
          </a:xfrm>
          <a:prstGeom prst="roundRect">
            <a:avLst>
              <a:gd name="adj" fmla="val 310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QElectroTech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77440"/>
            <a:ext cx="307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8794"/>
                </a:solidFill>
              </a:rPr>
              <a:t>무료 전기 도면 프로그램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88920"/>
            <a:ext cx="30784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공식 사이트 Download 메뉴에서 OS용 설치 파일 받기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설치 후 실행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File &gt; Open 으로 Drawing/ConveyorElectrical.qet 열기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왼쪽 폴리오 목록에서 페이지 이동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5394960"/>
            <a:ext cx="307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1F6FB2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qelectrotech.org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12920" y="1737360"/>
            <a:ext cx="3535680" cy="4297680"/>
          </a:xfrm>
          <a:prstGeom prst="roundRect">
            <a:avLst>
              <a:gd name="adj" fmla="val 310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41520" y="1920240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CODESYS V3.5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41520" y="2377440"/>
            <a:ext cx="307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8794"/>
                </a:solidFill>
              </a:rPr>
              <a:t>SP22 (3.5.22.40) · 무료 · Windows 10/11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41520" y="2788920"/>
            <a:ext cx="30784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64bit 설치 파일 다운로드 후 설치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SoftPLC Control Win SL 데모 포함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작업표시줄 SysTray에서 PLC Start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라이선스 없으면 2시간 후 정지 → 재시작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41520" y="5394960"/>
            <a:ext cx="307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1F6FB2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store.codesys.com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77200" y="1737360"/>
            <a:ext cx="3535680" cy="4297680"/>
          </a:xfrm>
          <a:prstGeom prst="roundRect">
            <a:avLst>
              <a:gd name="adj" fmla="val 310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05800" y="1920240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Unity 빌드본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305800" y="2377440"/>
            <a:ext cx="307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8794"/>
                </a:solidFill>
              </a:rPr>
              <a:t>ConveyorURP (BuildWin)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305800" y="2788920"/>
            <a:ext cx="30784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강사가 나눠 준 BuildWin 폴더 복사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ConveyorURP.exe 실행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제어 모드: Controller 선택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IP 127.0.0.1 확인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설치 확인 체크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수업 시작 전 세 가지가 모두 열리는지 확인합니다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061972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0619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828800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QElectroTech에서 ConveyorElectrical.qet 열기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912364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9123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679192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폴리오 6장(SINGLE LINE ~ SEQUENCE) 보이는지 확인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76275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7627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529584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CODESYS 실행 후 SysTray 아이콘 확인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613148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6131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379976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ConveyorURP.exe 실행 후 Controller 모드 선택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463540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4635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5230368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Python 3.12 설치 확인 (5교시 키보드 실습용)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092440" y="1828800"/>
            <a:ext cx="3547872" cy="4206240"/>
          </a:xfrm>
          <a:prstGeom prst="roundRect">
            <a:avLst>
              <a:gd name="adj" fmla="val 309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21040" y="2057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확인 포인트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260604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도면 6장 표시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PLC 아이콘 표시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Unity 화면 표시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python --version 3.12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오늘의 시간표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5448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600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7EA6"/>
                </a:solidFill>
              </a:rPr>
              <a:t>이론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9456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전장 구성: 전원·차단기·릴레이·전자접촉기·단자대, 도면 기호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97680" y="132588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6280" y="155448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166360" y="1600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7EA6"/>
                </a:solidFill>
              </a:rPr>
              <a:t>이론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19456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산업용 센서: 근접·광전·리밋, NPN/PNP 배선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46720" y="132588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5320" y="155448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7532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1600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7EA6"/>
                </a:solidFill>
              </a:rPr>
              <a:t>이론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19456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액추에이터: 정역회전 회로와 인터록, 인버터, 실린더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37490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97764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4023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6B"/>
                </a:solidFill>
              </a:rPr>
              <a:t>실습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6177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PLC I/O 분석: 입출력 카드, 배선도, I/O 할당표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297680" y="37490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26280" y="397764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2628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166360" y="4023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6B"/>
                </a:solidFill>
              </a:rPr>
              <a:t>실습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526280" y="46177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정역회전 ↔ 디지털트윈 LEFT·RIGHT 대응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046720" y="37490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75320" y="397764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7532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915400" y="4023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6B"/>
                </a:solidFill>
              </a:rPr>
              <a:t>실습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275320" y="46177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CODESYS I/O 매핑: 신호 → HR0·HR10 비트 변수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23160"/>
            <a:ext cx="1188720" cy="11887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324D"/>
                </a:solidFill>
              </a:rPr>
              <a:t>1</a:t>
            </a:r>
            <a:endParaRPr lang="en-US" sz="3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전장 구성과 도면 기호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전기가 들어와서 모터까지 가는 길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전기는 이 순서로 흐른다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컨베이어 제어반의 기본 흐름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56032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전원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15468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어댑터·SMPS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12V DC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496312" y="320040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43784" y="237744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80944" y="256032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보호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980944" y="315468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차단기·퓨즈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과전류 차단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91456" y="320040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38928" y="237744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76088" y="256032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변환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276088" y="315468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DC/DC 컨버터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12V → 5V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086600" y="320040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34072" y="237744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71232" y="256032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제어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571232" y="315468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PLC·릴레이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신호로 ON/OFF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381744" y="320040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29216" y="237744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866376" y="256032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부하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866376" y="315468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모터·센서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실제 동작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66344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도면의 단선도(SINGLE LINE)는 이 흐름을 한 장에 요약한 그림입니다.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제어반을 이루는 네 가지 부품군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전원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SMPS·어댑터가 DC 전원 공급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키트는 12V 1.5A 어댑터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DC/DC 컨버터로 5V 생성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보호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1945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차단기(MCCB): 과전류 시 회로 차단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퓨즈: 한 번 끊어지면 교체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키트는 2A 퓨즈 사용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0690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제어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6634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릴레이: 작은 신호로 접점 개폐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전자접촉기(MC): 큰 전류용 릴레이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PLC 출력이 코일을 구동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384048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40690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연결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46634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단자대: 배선을 모으고 번호 부여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배선 번호로 도면과 실물 대조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점검·교체가 쉬워짐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자주 쓰는 도면 기호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IEC 60617 기준 기호를 QElectroTech에서 그대로 씁니다</a:t>
            </a:r>
            <a:endParaRPr lang="en-US" sz="1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108960"/>
                <a:gridCol w="58521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기호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이름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역할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F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퓨즈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과전류 시 끊어져 회로 보호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Q / QF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차단기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과전류·단락 시 차단, 재투입 가능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K (A1–A2)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릴레이·접촉기 코일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전류가 흐르면 접점이 움직임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NO (a접점)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평상시 열린 접점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코일 ON 때 닫힘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NC (b접점)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평상시 닫힌 접점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코일 ON 때 열림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X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단자대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배선 연결점, 번호로 관리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M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모터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전기를 회전으로 바꿈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B / 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센서·스위치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현장 상태를 신호로 바꿈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a접점 · b접점 · c접점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접점은 코일 상태에 따라 열리고 닫힌다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05200" cy="2236851"/>
          </a:xfrm>
          <a:prstGeom prst="roundRect">
            <a:avLst>
              <a:gd name="adj" fmla="val 4905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a접점 (NO)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2956560" cy="123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평상시 열림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코일 ON → 닫힘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운전·기동 조건에 사용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28160" y="1874520"/>
            <a:ext cx="3505200" cy="2236851"/>
          </a:xfrm>
          <a:prstGeom prst="roundRect">
            <a:avLst>
              <a:gd name="adj" fmla="val 4905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02480" y="21031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b접점 (NC)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602480" y="2697480"/>
            <a:ext cx="2956560" cy="123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평상시 닫힘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코일 ON → 열림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정지·비상정지·인터록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07680" y="1874520"/>
            <a:ext cx="3505200" cy="2236851"/>
          </a:xfrm>
          <a:prstGeom prst="roundRect">
            <a:avLst>
              <a:gd name="adj" fmla="val 4905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82000" y="21031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c접점 (전환)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382000" y="2697480"/>
            <a:ext cx="2956560" cy="123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공통(COM) 단자 하나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NO와 NC를 함께 가짐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릴레이 모듈의 기본 형태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431411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비상정지는 b접점으로 겁니다. 선이 끊어져도 회로가 열려 정지 쪽으로 안전하게 동작하기 때문입니다.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릴레이와 전자접촉기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2677668"/>
          </a:xfrm>
          <a:prstGeom prst="roundRect">
            <a:avLst>
              <a:gd name="adj" fmla="val 409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</a:rPr>
              <a:t>릴레이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4846320" cy="1580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작은 전류(수 A 이하) 개폐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제어 신호 증폭·분리용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PLC 출력 → 릴레이 → 부하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키트: 8채널 릴레이 모듈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2677668"/>
          </a:xfrm>
          <a:prstGeom prst="roundRect">
            <a:avLst>
              <a:gd name="adj" fmla="val 4098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A900"/>
                </a:solidFill>
              </a:rPr>
              <a:t>전자접촉기 (MC)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240280"/>
            <a:ext cx="4846320" cy="1580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큰 전류(모터 주회로) 개폐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주접점 + 보조접점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열동 계전기(THR)와 함께 사용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현장 3상 모터 기동에 사용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36930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원리는 같습니다. 코일에 전기를 주면 접점이 움직입니다. 다른 점은 다룰 수 있는 전류의 크기입니다.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실습 도면 ConveyorElectrical.qet 구성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도면은 6개 폴리오(페이지)로 나뉘어 있습니다</a:t>
            </a:r>
            <a:endParaRPr lang="en-US" sz="1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926080"/>
                <a:gridCol w="59436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폴리오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주요 부품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SINGLE LINE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전체 전원 흐름 요약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어댑터 → 퓨즈 → 컨버터 → 부하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POWER MAIN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12V 주전원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12V 1.5A 어댑터, DC 잭(DC-022B), FUSE-2A, 토글 스위치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POWER 5V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5V 제어 전원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LM2596S DC/DC 컨버터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MOTOR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모터 구동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L298N 모터 드라이버, JGB37-520 45RPM DC 모터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SENSOR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센서 입력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TCRT5000 광센서, 3선식 정전용량 센서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SEQUENCE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릴레이 시퀀스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8채널 릴레이 모듈, 접점 CR1A~D·CR2A~D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키트 전원 숫자로 보기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505200" cy="2651760"/>
          </a:xfrm>
          <a:prstGeom prst="roundRect">
            <a:avLst>
              <a:gd name="adj" fmla="val 413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2057400"/>
            <a:ext cx="313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7324D"/>
                </a:solidFill>
              </a:rPr>
              <a:t>12V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246120"/>
            <a:ext cx="313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주전원 (어댑터 1.5A)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28160" y="1737360"/>
            <a:ext cx="3505200" cy="2651760"/>
          </a:xfrm>
          <a:prstGeom prst="roundRect">
            <a:avLst>
              <a:gd name="adj" fmla="val 413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11040" y="2057400"/>
            <a:ext cx="313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7324D"/>
                </a:solidFill>
              </a:rPr>
              <a:t>2A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4511040" y="3246120"/>
            <a:ext cx="313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퓨즈 정격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07680" y="1737360"/>
            <a:ext cx="3505200" cy="2651760"/>
          </a:xfrm>
          <a:prstGeom prst="roundRect">
            <a:avLst>
              <a:gd name="adj" fmla="val 413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90560" y="2057400"/>
            <a:ext cx="313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7324D"/>
                </a:solidFill>
              </a:rPr>
              <a:t>5V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8290560" y="3246120"/>
            <a:ext cx="313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LM2596S로 강압한 제어 전원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6634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모터는 12V, 센서와 로직은 5V를 씁니다. 두 전원의 GND를 공통으로 묶는지 도면에서 확인합니다.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도면을 읽는 순서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1391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139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7160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범례와 표제란에서 기호·도면 번호 확인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4825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24028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단선도로 전체 전원 흐름 파악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5127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3512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10896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전원 폴리오에서 전압·보호 소자 확인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21995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2199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97764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부하 폴리오(모터·센서)로 이동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08863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0886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84632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교차 참조 번호(예: 3-G13)로 페이지 사이 이동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92440" y="1371600"/>
            <a:ext cx="3547872" cy="4663440"/>
          </a:xfrm>
          <a:prstGeom prst="roundRect">
            <a:avLst>
              <a:gd name="adj" fmla="val 309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2104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확인 포인트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14884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폴리오 이름 6개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전압 2종 (12V, 5V)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보호 소자 위치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교차 참조 읽기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23160"/>
            <a:ext cx="1188720" cy="11887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324D"/>
                </a:solidFill>
              </a:rPr>
              <a:t>2</a:t>
            </a:r>
            <a:endParaRPr lang="en-US" sz="3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산업용 센서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현장의 상태를 ON/OFF 신호로 바꾸는 부품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컨베이어에서 쓰는 세 가지 센서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05200" cy="2513076"/>
          </a:xfrm>
          <a:prstGeom prst="roundRect">
            <a:avLst>
              <a:gd name="adj" fmla="val 436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근접 센서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2956560" cy="1507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유도형: 금속만 감지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정전용량형: 금속·플라스틱·액체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비접촉, 수 mm~수십 mm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28160" y="1371600"/>
            <a:ext cx="3505200" cy="2513076"/>
          </a:xfrm>
          <a:prstGeom prst="roundRect">
            <a:avLst>
              <a:gd name="adj" fmla="val 436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0248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광전 센서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602480" y="2194560"/>
            <a:ext cx="2956560" cy="1507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투과형: 송광·수광 마주 봄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반사형: 반사판으로 되돌림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확산형: 물체에 반사된 빛 감지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07680" y="1371600"/>
            <a:ext cx="3505200" cy="2513076"/>
          </a:xfrm>
          <a:prstGeom prst="roundRect">
            <a:avLst>
              <a:gd name="adj" fmla="val 4366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8200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리밋 스위치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382000" y="2194560"/>
            <a:ext cx="2956560" cy="1507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물체가 레버를 눌러 접점 동작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접촉식, 구조가 단순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끝 위치 확인·안전용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204716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디지털트윈의 Sensor01·Sensor02는 컨베이어 양 끝에서 박스를 감지하는 위치 센서 역할입니다.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센서 고르기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3108960"/>
                <a:gridCol w="32004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센서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감지 대상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장점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주의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유도형 근접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금속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먼지·기름에 강함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비금속 감지 불가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정전용량형 근접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대부분 물질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플라스틱·액체 감지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습기·감도 조정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광전 투과형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빛을 가리는 물체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감지 거리 길고 안정적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양쪽 설치·정렬 필요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광전 확산형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빛을 반사하는 물체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한쪽 설치로 간단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색·표면에 영향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리밋 스위치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접촉하는 물체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단순·저렴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기계적 마모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NPN과 PNP 출력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센서 출력 트랜지스터의 종류에 따라 배선이 달라진다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94960" cy="2677668"/>
          </a:xfrm>
          <a:prstGeom prst="roundRect">
            <a:avLst>
              <a:gd name="adj" fmla="val 409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</a:rPr>
              <a:t>NPN (싱크형 출력)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43200"/>
            <a:ext cx="4846320" cy="1580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감지 시 신호선을 0V로 끌어내림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PLC 입력 공통(COM)은 +24V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아시아 설비에서 많이 사용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입력 카드: 소스형 입력과 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874520"/>
            <a:ext cx="5394960" cy="2677668"/>
          </a:xfrm>
          <a:prstGeom prst="roundRect">
            <a:avLst>
              <a:gd name="adj" fmla="val 4098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21031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A900"/>
                </a:solidFill>
              </a:rPr>
              <a:t>PNP (소스형 출력)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743200"/>
            <a:ext cx="4846320" cy="1580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감지 시 신호선에 +V를 내보냄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PLC 입력 공통(COM)은 0V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유럽 설비에서 많이 사용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입력 카드: 싱크형 입력과 짝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87222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센서와 입력 카드의 형식이 맞지 않으면 감지해도 PLC가 신호를 받지 못합니다.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3선식 센서 배선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선 색은 IEC 60947-5-2 표준을 따른다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05200" cy="1887474"/>
          </a:xfrm>
          <a:prstGeom prst="roundRect">
            <a:avLst>
              <a:gd name="adj" fmla="val 58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갈색 (BN)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295656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+V 전원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PNP·NPN 공통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28160" y="1874520"/>
            <a:ext cx="3505200" cy="1887474"/>
          </a:xfrm>
          <a:prstGeom prst="roundRect">
            <a:avLst>
              <a:gd name="adj" fmla="val 581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02480" y="21031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검정 (BK)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602480" y="2697480"/>
            <a:ext cx="295656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출력 신호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PLC 입력 단자로 연결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07680" y="1874520"/>
            <a:ext cx="3505200" cy="1887474"/>
          </a:xfrm>
          <a:prstGeom prst="roundRect">
            <a:avLst>
              <a:gd name="adj" fmla="val 58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82000" y="21031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파랑 (BU)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382000" y="2697480"/>
            <a:ext cx="295656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0V 공통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전원의 마이너스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082034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실습 도면 SENSOR 폴리오의 3단자 정전용량 센서에도 BR·BK·BL 표기가 있습니다. 검정선이 PLC 입력으로 가는 신호선입니다.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실습 키트의 센서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05200" cy="3414903"/>
          </a:xfrm>
          <a:prstGeom prst="roundRect">
            <a:avLst>
              <a:gd name="adj" fmla="val 32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TCRT5000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2956560" cy="240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적외선 반사형 광센서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송광 LED + 수광 트랜지스터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도면 SENSOR 폴리오에 5곳 표기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박스가 가까이 오면 반사광 증가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28160" y="1371600"/>
            <a:ext cx="3505200" cy="3414903"/>
          </a:xfrm>
          <a:prstGeom prst="roundRect">
            <a:avLst>
              <a:gd name="adj" fmla="val 32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0248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정전용량 센서 (3선)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602480" y="2194560"/>
            <a:ext cx="2956560" cy="240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도면 기호: Capacitive sensor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3단자 NC 출력 타입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BR·BK·BL 배선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비금속 박스도 감지 가능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07680" y="1371600"/>
            <a:ext cx="3505200" cy="3414903"/>
          </a:xfrm>
          <a:prstGeom prst="roundRect">
            <a:avLst>
              <a:gd name="adj" fmla="val 321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8200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디지털트윈 센서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382000" y="2194560"/>
            <a:ext cx="2956560" cy="240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SensorTrigger.cs (Unity)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박스가 영역에 들어오면 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나가면 OFF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HR0 bit0·bit1로 전송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디지털트윈 센서는 이렇게 동작한다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ConveyorURP/Assets/Scripts/SensorTrigger.cs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void OnTriggerEnter(Collider other)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detectedCount++;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isDetected = detectedCount &gt; 0;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void OnTriggerExit(Collider other)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detectedCount--;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(detectedCount &lt; 0)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detectedCount = 0;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isDetected = detectedCount &gt; 0;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박스가 감지 영역에 들어오면 개수 +1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나가면 개수 −1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하나라도 있으면 감지(ON)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실제 센서의 감지 거리 역할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센서 점검 순서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감지가 안 될 때 위에서부터 확인합니다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061972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0619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828800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센서 동작 LED가 켜지는지 확인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912364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9123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679192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전원(갈색–파랑) 전압을 멀티미터로 측정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76275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7627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529584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신호선(검정)이 감지 때 바뀌는지 측정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613148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6131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379976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PLC 입력 램프 또는 모니터 변수 확인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463540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4635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5230368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감지 거리·감도 조정, 렌즈 오염 확인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092440" y="1828800"/>
            <a:ext cx="3547872" cy="4206240"/>
          </a:xfrm>
          <a:prstGeom prst="roundRect">
            <a:avLst>
              <a:gd name="adj" fmla="val 309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21040" y="2057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확인 포인트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260604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센서 LED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전원 전압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신호선 변화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PLC 입력 상태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상황별 센서 선택 연습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조별로 먼저 고른 뒤 아래 예시와 비교합니다</a:t>
            </a:r>
            <a:endParaRPr lang="en-US" sz="1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3017520"/>
                <a:gridCol w="45720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상황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추천 센서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이유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금속 부품 도착 확인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유도형 근접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금속만 감지, 오염에 강함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투명 플라스틱 병 감지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정전용량형 또는 투과형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빛 반사가 약한 대상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컨베이어 끝 안전 정지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리밋 스위치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확실한 기계적 동작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먼 거리 통과 감지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광전 투과형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감지 거리가 김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종이 박스 위치 감지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광전 확산형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한쪽 설치로 간단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23160"/>
            <a:ext cx="1188720" cy="11887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324D"/>
                </a:solidFill>
              </a:rPr>
              <a:t>3</a:t>
            </a:r>
            <a:endParaRPr lang="en-US" sz="3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액추에이터와 정역회전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모터를 앞뒤로 돌리되, 동시에 켜지지 않게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컨베이어를 움직이는 액추에이터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05200" cy="2789301"/>
          </a:xfrm>
          <a:prstGeom prst="roundRect">
            <a:avLst>
              <a:gd name="adj" fmla="val 393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DC 모터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2956560" cy="1783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전압 방향으로 회전 방향 결정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키트: JGB37-520 45RPM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드라이버(L298N)로 정역 제어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28160" y="1371600"/>
            <a:ext cx="3505200" cy="2789301"/>
          </a:xfrm>
          <a:prstGeom prst="roundRect">
            <a:avLst>
              <a:gd name="adj" fmla="val 393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0248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3상 유도전동기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602480" y="2194560"/>
            <a:ext cx="2956560" cy="1783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현장 컨베이어의 주력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두 상을 바꾸면 역회전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전자접촉기 2개로 정역 제어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07680" y="1371600"/>
            <a:ext cx="3505200" cy="2789301"/>
          </a:xfrm>
          <a:prstGeom prst="roundRect">
            <a:avLst>
              <a:gd name="adj" fmla="val 3934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8200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공압 실린더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382000" y="2194560"/>
            <a:ext cx="2956560" cy="1783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솔레노이드 밸브로 공기 방향 전환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밀기·분류·고정 동작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단동형·복동형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정회전 기동 회로의 흐름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기동 버튼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PB1 누름 (a접점)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96312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43784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80944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MC-F 코일 ON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980944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정회전 접촉기 동작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91456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38928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76088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자기유지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276088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MC-F 보조 a접점이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버튼을 대신함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086600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34072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71232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모터 정회전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571232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버튼을 떼도 계속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381744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29216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66376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정지 버튼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866376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PB0 (b접점)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회로 차단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2976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자기유지: 출력 자신의 접점을 기동 버튼과 병렬로 연결해 버튼을 떼도 출력이 유지되게 하는 회로입니다.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정역회전 회로: 인터록이 핵심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2677668"/>
          </a:xfrm>
          <a:prstGeom prst="roundRect">
            <a:avLst>
              <a:gd name="adj" fmla="val 409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</a:rPr>
              <a:t>정회전 (MC-F)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4846320" cy="1580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기동: PB-F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자기유지: MC-F a접점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인터록: MC-R b접점을 직렬로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MC-R이 켜져 있으면 기동 불가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2677668"/>
          </a:xfrm>
          <a:prstGeom prst="roundRect">
            <a:avLst>
              <a:gd name="adj" fmla="val 4098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A900"/>
                </a:solidFill>
              </a:rPr>
              <a:t>역회전 (MC-R)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240280"/>
            <a:ext cx="4846320" cy="1580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기동: PB-R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자기유지: MC-R a접점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인터록: MC-F b접점을 직렬로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MC-F가 켜져 있으면 기동 불가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36930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두 접촉기가 동시에 붙으면 3상 모터 회로는 상간 단락이 됩니다. 상대 접촉기의 b접점을 넣어 동시 ON을 막습니다.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인터록을 거는 세 가지 방법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05200" cy="2439924"/>
          </a:xfrm>
          <a:prstGeom prst="roundRect">
            <a:avLst>
              <a:gd name="adj" fmla="val 449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전기적 인터록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2956560" cy="1434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상대 접촉기의 b접점 직렬 연결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가장 기본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28160" y="1371600"/>
            <a:ext cx="3505200" cy="2439924"/>
          </a:xfrm>
          <a:prstGeom prst="roundRect">
            <a:avLst>
              <a:gd name="adj" fmla="val 449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0248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기계적 인터록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602480" y="2194560"/>
            <a:ext cx="2956560" cy="1434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두 접촉기를 기구로 연결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물리적으로 동시 투입 불가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07680" y="1371600"/>
            <a:ext cx="3505200" cy="2439924"/>
          </a:xfrm>
          <a:prstGeom prst="roundRect">
            <a:avLst>
              <a:gd name="adj" fmla="val 4497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8200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소프트웨어 인터록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382000" y="2194560"/>
            <a:ext cx="2956560" cy="1434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PLC 프로그램에서 상대 출력 b접점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Ladder: NOT MoveLeft → MoveRight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131564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현장에서는 세 가지를 겹쳐 씁니다. 하나가 실패해도 다른 하나가 막아 주도록 하기 위해서입니다.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키트의 모터 구동부 (도면 MOTOR 폴리오)</a:t>
            </a:r>
            <a:endParaRPr lang="en-US" sz="30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840480"/>
                <a:gridCol w="48463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신호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역할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비고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IN1 · IN2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모터 A 방향 입력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두 입력의 조합이 회전 방향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IN3 · IN4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모터 B 방향 입력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2채널 드라이버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ENA · ENB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모터 구동 허용(속도)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PWM으로 속도 제어 가능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모터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JGB37-520 45RPM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12V DC 감속 모터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드라이버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L298N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H-브리지 방식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A8794"/>
                </a:solidFill>
              </a:rPr>
              <a:t>정확한 핀 연결은 QElectroTech에서 MOTOR 폴리오를 열어 확인합니다.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인버터 (VFD)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3상 모터의 주파수를 바꿔 속도를 조절하는 장치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94960" cy="1887474"/>
          </a:xfrm>
          <a:prstGeom prst="roundRect">
            <a:avLst>
              <a:gd name="adj" fmla="val 58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속도 제어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484632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주파수(Hz)에 비례해 회전수 변화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컨베이어 이송 속도 조정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874520"/>
            <a:ext cx="5394960" cy="1887474"/>
          </a:xfrm>
          <a:prstGeom prst="roundRect">
            <a:avLst>
              <a:gd name="adj" fmla="val 58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21031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부드러운 기동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697480"/>
            <a:ext cx="484632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가속·감속 시간 설정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기동 충격·박스 밀림 감소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036314"/>
            <a:ext cx="5394960" cy="1887474"/>
          </a:xfrm>
          <a:prstGeom prst="roundRect">
            <a:avLst>
              <a:gd name="adj" fmla="val 58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26491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정역 운전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859274"/>
            <a:ext cx="484632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정회전·역회전 단자로 방향 전환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내부에서 인터록 처리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17920" y="4036314"/>
            <a:ext cx="5394960" cy="1887474"/>
          </a:xfrm>
          <a:prstGeom prst="roundRect">
            <a:avLst>
              <a:gd name="adj" fmla="val 581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92240" y="426491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PLC 연결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4859274"/>
            <a:ext cx="484632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디지털 입력: 운전·방향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아날로그·통신: 속도 지령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공압 실린더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2328291"/>
          </a:xfrm>
          <a:prstGeom prst="roundRect">
            <a:avLst>
              <a:gd name="adj" fmla="val 47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</a:rPr>
              <a:t>단동 실린더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4846320" cy="123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한쪽만 공기로 밀고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복귀는 스프링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솔레노이드 밸브 1개 신호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2328291"/>
          </a:xfrm>
          <a:prstGeom prst="roundRect">
            <a:avLst>
              <a:gd name="adj" fmla="val 471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A900"/>
                </a:solidFill>
              </a:rPr>
              <a:t>복동 실린더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240280"/>
            <a:ext cx="4846320" cy="123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전진·후진 모두 공기로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5포트 밸브로 방향 전환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전진·후진 신호 2개 (인터록 필요)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019931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실린더에도 위치 센서(리드 스위치)를 달아 전진 끝·후진 끝을 PLC로 확인합니다.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정역 제어의 규칙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505200" cy="2651760"/>
          </a:xfrm>
          <a:prstGeom prst="roundRect">
            <a:avLst>
              <a:gd name="adj" fmla="val 413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2057400"/>
            <a:ext cx="313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7324D"/>
                </a:solidFill>
              </a:rPr>
              <a:t>1 · 0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246120"/>
            <a:ext cx="313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한쪽 방향만 ON → 회전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28160" y="1737360"/>
            <a:ext cx="3505200" cy="2651760"/>
          </a:xfrm>
          <a:prstGeom prst="roundRect">
            <a:avLst>
              <a:gd name="adj" fmla="val 413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11040" y="2057400"/>
            <a:ext cx="313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7324D"/>
                </a:solidFill>
              </a:rPr>
              <a:t>0 · 0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4511040" y="3246120"/>
            <a:ext cx="313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둘 다 OFF → 정지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07680" y="1737360"/>
            <a:ext cx="3505200" cy="2651760"/>
          </a:xfrm>
          <a:prstGeom prst="roundRect">
            <a:avLst>
              <a:gd name="adj" fmla="val 413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90560" y="2057400"/>
            <a:ext cx="313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7324D"/>
                </a:solidFill>
              </a:rPr>
              <a:t>1 · 1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8290560" y="3246120"/>
            <a:ext cx="313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둘 다 ON → 금지 (인터록)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6634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이 세 줄이 오후 실습에서 디지털트윈의 LEFT·RIGHT 비트로 그대로 다시 나옵니다.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23160"/>
            <a:ext cx="1188720" cy="11887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324D"/>
                </a:solidFill>
              </a:rPr>
              <a:t>4</a:t>
            </a:r>
            <a:endParaRPr lang="en-US" sz="3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실습 · PLC I/O 분석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도면에서 신호를 찾아 I/O 할당표를 만든다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신호는 이 길을 따라간다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1501140" cy="1920240"/>
          </a:xfrm>
          <a:prstGeom prst="roundRect">
            <a:avLst>
              <a:gd name="adj" fmla="val 7310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2194560"/>
            <a:ext cx="12268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센서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788920"/>
            <a:ext cx="12268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박스 감지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113788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61260" y="2011680"/>
            <a:ext cx="1501140" cy="1920240"/>
          </a:xfrm>
          <a:prstGeom prst="roundRect">
            <a:avLst>
              <a:gd name="adj" fmla="val 7310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98420" y="2194560"/>
            <a:ext cx="12268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입력 카드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598420" y="2788920"/>
            <a:ext cx="12268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전압을 0/1로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026408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73880" y="2011680"/>
            <a:ext cx="1501140" cy="1920240"/>
          </a:xfrm>
          <a:prstGeom prst="roundRect">
            <a:avLst>
              <a:gd name="adj" fmla="val 7310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11040" y="2194560"/>
            <a:ext cx="12268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CPU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11040" y="2788920"/>
            <a:ext cx="12268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프로그램 스캔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39028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86500" y="2011680"/>
            <a:ext cx="1501140" cy="1920240"/>
          </a:xfrm>
          <a:prstGeom prst="roundRect">
            <a:avLst>
              <a:gd name="adj" fmla="val 7310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23660" y="2194560"/>
            <a:ext cx="12268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출력 카드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23660" y="2788920"/>
            <a:ext cx="12268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0/1을 전압으로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851648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99120" y="2011680"/>
            <a:ext cx="1501140" cy="1920240"/>
          </a:xfrm>
          <a:prstGeom prst="roundRect">
            <a:avLst>
              <a:gd name="adj" fmla="val 7310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36280" y="2194560"/>
            <a:ext cx="12268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릴레이·드라이버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336280" y="2788920"/>
            <a:ext cx="12268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전류 증폭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764268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111740" y="2011680"/>
            <a:ext cx="1501140" cy="1920240"/>
          </a:xfrm>
          <a:prstGeom prst="roundRect">
            <a:avLst>
              <a:gd name="adj" fmla="val 7310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248900" y="2194560"/>
            <a:ext cx="12268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모터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0248900" y="2788920"/>
            <a:ext cx="12268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벨트 회전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2976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I/O 할당표는 이 길 위의 각 신호에 주소와 이름을 붙인 표입니다.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PLC를 이루는 모듈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1887474"/>
          </a:xfrm>
          <a:prstGeom prst="roundRect">
            <a:avLst>
              <a:gd name="adj" fmla="val 58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전원 모듈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484632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PLC 내부 전원 공급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보통 24V DC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1887474"/>
          </a:xfrm>
          <a:prstGeom prst="roundRect">
            <a:avLst>
              <a:gd name="adj" fmla="val 58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CPU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194560"/>
            <a:ext cx="484632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프로그램 저장·실행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스캔 반복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533394"/>
            <a:ext cx="5394960" cy="1887474"/>
          </a:xfrm>
          <a:prstGeom prst="roundRect">
            <a:avLst>
              <a:gd name="adj" fmla="val 58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76199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입력 카드 (DI)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356354"/>
            <a:ext cx="484632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센서·버튼 신호 입력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싱크/소스 형식 확인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3533394"/>
            <a:ext cx="5394960" cy="1887474"/>
          </a:xfrm>
          <a:prstGeom prst="roundRect">
            <a:avLst>
              <a:gd name="adj" fmla="val 581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376199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출력 카드 (DO)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4356354"/>
            <a:ext cx="484632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릴레이 출력: 범용, 느림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트랜지스터 출력: 빠름, DC 전용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74090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실습에서는 SoftPLC(CODESYS Control Win)가 CPU 역할을 하고, 입출력은 Modbus 레지스터로 들어옵니다.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실습 1 · 도면에서 부품 찾기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QElectroTech로 ConveyorElectrical.qet을 엽니다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061972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0619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828800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POWER MAIN: 어댑터 전압·퓨즈 정격 적기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912364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9123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679192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POWER 5V: 5V를 만드는 부품 이름 적기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76275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7627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529584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MOTOR: 모터 드라이버와 모터 형식 적기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613148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6131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379976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SENSOR: 센서 종류와 배선 색 적기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463540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4635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5230368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SEQUENCE: 릴레이 접점 번호 목록 적기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092440" y="1828800"/>
            <a:ext cx="3547872" cy="4206240"/>
          </a:xfrm>
          <a:prstGeom prst="roundRect">
            <a:avLst>
              <a:gd name="adj" fmla="val 309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21040" y="2057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정답 예시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260604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12V 1.5A, FUSE-2A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LM2596S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L298N, JGB37-520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TCRT5000, BR·BK·BL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CR1A~D, CR2A~D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부품표 정리 (예시)</a:t>
            </a:r>
            <a:endParaRPr lang="en-US" sz="30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291840"/>
                <a:gridCol w="2651760"/>
                <a:gridCol w="301752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도면 표기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부품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역할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폴리오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12V 1.5A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DC 어댑터 (DC-022B 잭)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주전원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POWER MAIN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FUSE-2A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퓨즈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과전류 보호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POWER MAIN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TOGGLE SW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토글 스위치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전원 ON/OFF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POWER MAIN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LM2596S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DC/DC 강압 컨버터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12V → 5V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POWER 5V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L298N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모터 드라이버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정역·속도 제어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MOTOR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JGB37-520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DC 감속 모터 45RPM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벨트 구동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MOTOR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TCRT5000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반사형 광센서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박스 감지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SENSOR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CR1·CR2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릴레이 (8채널 모듈)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시퀀스 접점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SEQUENCE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컨베이어 I/O 할당표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실습 전체의 기준이 되는 표입니다</a:t>
            </a:r>
            <a:endParaRPr lang="en-US" sz="18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194560"/>
                <a:gridCol w="2834640"/>
                <a:gridCol w="201168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구분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신호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의미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Modbus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CODESYS 변수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입력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Sensor01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왼쪽 끝 박스 감지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HR0 bit0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GVL.ToPlc[0].0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입력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Sensor02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오른쪽 끝 박스 감지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HR0 bit1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GVL.ToPlc[0].1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입력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WorkpieceLost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박스 이탈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HR0 bit2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GVL.ToPlc[0].2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출력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LEFT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왼쪽 이동 (역회전)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HR10 bit0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GVL.FromPlc[0].0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출력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RIGHT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오른쪽 이동 (정회전)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HR10 bit1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GVL.FromPlc[0].1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출력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RESET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박스·Lost 초기화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HR10 bit2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GVL.FromPlc[0].2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실습 2 · 배선 추적 과제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조별로 하나씩 맡아 도면에서 끝까지 따라갑니다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061972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0619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828800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센서 신호선이 어디로 들어가는지 추적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912364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9123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679192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모터 전원이 어떤 소자를 거치는지 추적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76275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7627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529584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릴레이 코일 A1·A2가 어디서 구동되는지 추적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613148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6131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379976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교차 참조 번호로 다른 폴리오 이동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463540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4635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5230368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추적 경로를 화살표로 정리해 발표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092440" y="1828800"/>
            <a:ext cx="3547872" cy="4206240"/>
          </a:xfrm>
          <a:prstGeom prst="roundRect">
            <a:avLst>
              <a:gd name="adj" fmla="val 309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21040" y="2057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확인 포인트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260604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시작점과 끝점 명확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거친 부품 모두 기록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교차 참조 번호 사용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23160"/>
            <a:ext cx="1188720" cy="11887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324D"/>
                </a:solidFill>
              </a:rPr>
              <a:t>5</a:t>
            </a:r>
            <a:endParaRPr lang="en-US" sz="3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실습 · 정역회전과 LEFT·RIGHT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현장 회로의 규칙이 디지털트윈에도 그대로 있다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명령은 이렇게 벨트까지 간다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제어기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MoveRight = 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96312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43784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80944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HR10 bit1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980944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Modbus 레지스터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91456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38928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76088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Unity 통신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276088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20ms마다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HR10 읽기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086600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34072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71232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벨트 스크립트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571232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ConveyorBelt.cs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방향 계산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381744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29216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66376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벨트 이동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866376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박스 오른쪽으로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2976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현장의 정회전 접촉기(MC-F) 자리를 HR10 bit1(RIGHT)이 맡습니다.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LEFT · RIGHT 진리표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3108960"/>
                <a:gridCol w="39319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LEFT (bit0)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RIGHT (bit1)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디지털트윈 동작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현장 회로라면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정지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MC-F, MC-R 모두 OFF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왼쪽 이동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MC-R만 ON (역회전)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오른쪽 이동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MC-F만 ON (정회전)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정지 (무시)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인터록이 없으면 단락 위험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디지털트윈의 정지 규칙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ConveyorURP/Assets/Scripts/ConveyorBelt.cs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fromController[0].0 = MOVE LEFT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fromController[0].1 = MOVE RIGHT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moveLeft  = modbusController.GetFromControllerBit(0, 0);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moveRight = modbusController.GetFromControllerBit(0, 1);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LEFT  RIGHT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0      0   -&gt; STOP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1      1   -&gt; STOP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(moveLeft == moveRight)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direction = moveLeft ? -1.0f : 1.0f;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HR10의 bit0·bit1을 읽음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두 값이 같으면 움직이지 않음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다르면 방향 −1(왼쪽) 또는 +1(오른쪽)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현장의 인터록을 코드로 흉내 낸 것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현장 설비와 디지털트윈 비교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3230118"/>
          </a:xfrm>
          <a:prstGeom prst="roundRect">
            <a:avLst>
              <a:gd name="adj" fmla="val 339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</a:rPr>
              <a:t>현장 정역 회로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4846320" cy="2132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MC-F, MC-R 두 접촉기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상대 b접점으로 인터록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동시 ON → 단락·트립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방향 전환 전 정지 시간 필요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3230118"/>
          </a:xfrm>
          <a:prstGeom prst="roundRect">
            <a:avLst>
              <a:gd name="adj" fmla="val 3397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A900"/>
                </a:solidFill>
              </a:rPr>
              <a:t>디지털트윈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240280"/>
            <a:ext cx="4846320" cy="2132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HR10 bit0(LEFT)·bit1(RIGHT)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ConveyorBelt.cs가 1·1을 정지 처리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동시 ON → 그냥 정지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PLC에서도 인터록을 걸어야 실전 대비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92175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디지털트윈이 1·1을 막아 준다고 해서 PLC 인터록을 빼면 안 됩니다. 프로그램은 현장 설비에 그대로 옮겨 가기 때문입니다.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실습 3 · 키보드로 정역 운전해 보기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준비된 스크립트를 실행만 합니다 (코딩 없음)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061972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0619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828800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터미널에서 AI_Training/conveyor_il 폴더로 이동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912364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9123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679192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python il_collect_manual.py 실행 (Modbus 서버 시작)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76275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7627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529584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Unity 빌드본에서 Controller 모드로 연결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613148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6131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379976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박스를 올리고 A(왼쪽)·S(정지)·D(오른쪽) 누르기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463540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4635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5230368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X 또는 Q로 종료 (수집 데이터는 저장됨)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092440" y="1828800"/>
            <a:ext cx="3547872" cy="4206240"/>
          </a:xfrm>
          <a:prstGeom prst="roundRect">
            <a:avLst>
              <a:gd name="adj" fmla="val 309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21040" y="2057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확인 포인트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260604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A → LEFT bit0 = 1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D → RIGHT bit1 = 1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S → 둘 다 0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IOMapUI 화면 램프 변화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관찰 포인트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05200" cy="2789301"/>
          </a:xfrm>
          <a:prstGeom prst="roundRect">
            <a:avLst>
              <a:gd name="adj" fmla="val 393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방향 전환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2956560" cy="1783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D → A로 바로 바꿔 보기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박스가 즉시 반대로 움직임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현장 모터라면 충격 발생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28160" y="1371600"/>
            <a:ext cx="3505200" cy="2789301"/>
          </a:xfrm>
          <a:prstGeom prst="roundRect">
            <a:avLst>
              <a:gd name="adj" fmla="val 393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0248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끝 센서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602480" y="2194560"/>
            <a:ext cx="2956560" cy="1783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박스가 끝에 닿으면 Sensor 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IOMapUI에서 HR0 비트 확인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그대로 두면 이탈(Lost)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07680" y="1371600"/>
            <a:ext cx="3505200" cy="2789301"/>
          </a:xfrm>
          <a:prstGeom prst="roundRect">
            <a:avLst>
              <a:gd name="adj" fmla="val 3934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8200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WorkpieceLost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382000" y="2194560"/>
            <a:ext cx="2956560" cy="1783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박스가 떨어지면 HR0 bit2 = 1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박스는 사라짐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RESET(HR10 bit2)으로 복구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480941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사람이 손으로 정역 스위치를 누르는 것이 얼마나 번거로운지 느껴 보는 것이 이번 실습의 목적입니다. 내일 이것을 PLC가 자동으로 합니다.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실습 기록표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조별로 동작을 기록합니다</a:t>
            </a:r>
            <a:endParaRPr lang="en-US" sz="18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737360"/>
                <a:gridCol w="1463040"/>
                <a:gridCol w="1463040"/>
                <a:gridCol w="43891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누른 키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HR10 값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LEFT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RIGHT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박스 움직임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A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왼쪽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정지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오른쪽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(1·1 상태)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정지 (실습에서는 만들 수 없음)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23160"/>
            <a:ext cx="1188720" cy="11887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324D"/>
                </a:solidFill>
              </a:rPr>
              <a:t>6</a:t>
            </a:r>
            <a:endParaRPr lang="en-US" sz="3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실습 · CODESYS I/O 매핑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센서·모터 신호를 PLC 변수에 연결한다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CODESYS 프로젝트 만들기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1391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139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7160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File &gt; New Project &gt; Standard project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4825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24028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Device: CODESYS Control Win V3 x64, PLC_PRG 언어: LD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5127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3512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10896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Device 우클릭 &gt; Add Device &gt; Ethernet Adapter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21995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2199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97764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Ethernet 우클릭 &gt; Add Device &gt; ModbusTCP Server Device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08863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0886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84632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Application에 GVL(전역 변수 목록) 추가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92440" y="1371600"/>
            <a:ext cx="3547872" cy="4663440"/>
          </a:xfrm>
          <a:prstGeom prst="roundRect">
            <a:avLst>
              <a:gd name="adj" fmla="val 309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2104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확인 포인트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14884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Device 트리에 Ethernet 표시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ModbusTCP Server Device 표시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GVL 추가됨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ModbusTCP Server Device 설정값</a:t>
            </a:r>
            <a:endParaRPr lang="en-US" sz="30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64922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값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이유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Port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1502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Unity ModbusController 기본 포트와 같게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Unit ID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Unity 기본값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Holding registers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20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HR0~9 입력용 + HR10~19 출력용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Writable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ON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Unity가 쓰고 PLC도 쓸 수 있게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Bind to Adapter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OFF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같은 PC의 127.0.0.1 요청 허용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A8794"/>
                </a:solidFill>
              </a:rPr>
              <a:t>실제 화면의 항목 이름은 CODESYS 버전에 따라 조금 다를 수 있습니다.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GVL: Unity와 주고받는 변수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 / GVL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{attribute 'qualified_only'}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VAR_GLOBAL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Unity → PLC (HR0~9)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ToPlc   : ARRAY[0..9] OF WORD;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PLC → Unity (HR10~19)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FromPlc : ARRAY[0..9] OF WORD;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END_VAR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WORD 하나 = 레지스터 하나 = 16비트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ToPlc[0] = HR0 (센서)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FromPlc[0] = HR10 (명령)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qualified_only: 항상 GVL.이름으로 사용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I/O Mapping 탭에서 연결하기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ModbusTCP Server Device &gt; I/O Mapping 탭</a:t>
            </a:r>
            <a:endParaRPr lang="en-US" sz="180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108960"/>
                <a:gridCol w="429768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Modbus 영역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연결할 변수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방향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Holding register 0 ~ 9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GVL.ToPlc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Unity → PLC (PLC는 읽기만)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Holding register 10 ~ 19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GVL.FromPlc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PLC → Unity (PLC가 씀)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A8794"/>
                </a:solidFill>
              </a:rPr>
              <a:t>[강사 확인] 실제 채널 이름과 %QW 주소는 I/O Mapping 탭에서 확인하고 화면을 캡처해 두세요.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비트를 이름 있는 변수로 옮기기 (Ladder)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PLC_PRG (LD) · 네트워크 1~3, 6~7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입력: 레지스터 비트 → 변수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N1:  --| GVL.ToPlc[0].0 |------------( Sensor01 )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N2:  --| GVL.ToPlc[0].1 |------------( Sensor02 )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N3:  --| GVL.ToPlc[0].2 |------------( Lost 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출력: 변수 → 레지스터 비트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N6:  --| MoveLeft  |-----------( GVL.FromPlc[0].0 )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N7:  --| MoveRight |-----------( GVL.FromPlc[0].1 )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비트 번호는 I/O 할당표 그대로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이름 있는 변수로 바꾸면 Ladder 읽기 쉬움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N4·N5(자동 왕복)는 내일 작성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오늘은 매핑만 확인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연결 확인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1391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139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7160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Build &gt; Build로 컴파일 (오류 0개)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4825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24028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Online &gt; Login → Debug &gt; Start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5127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3512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10896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Unity 빌드본 Controller 모드로 연결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21995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2199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97764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박스를 센서 위에 올리고 Sensor01 값 확인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08863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0886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84632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MoveRight를 Write values(Ctrl+F7)로 TRUE → 벨트 이동 확인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92440" y="1371600"/>
            <a:ext cx="3547872" cy="4663440"/>
          </a:xfrm>
          <a:prstGeom prst="roundRect">
            <a:avLst>
              <a:gd name="adj" fmla="val 309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2104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확인 포인트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14884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Sensor01이 TRUE로 바뀜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MoveRight TRUE → 오른쪽 이동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MoveLeft·MoveRight 동시 TRUE → 정지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2시간 제한 시 SysTray 재시작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오늘 만든 연결의 전체 그림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2789301"/>
          </a:xfrm>
          <a:prstGeom prst="roundRect">
            <a:avLst>
              <a:gd name="adj" fmla="val 393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현장이라면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4846320" cy="1783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센서 → 입력 카드 단자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PLC 프로그램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출력 카드 → 접촉기·드라이버 → 모터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2789301"/>
          </a:xfrm>
          <a:prstGeom prst="roundRect">
            <a:avLst>
              <a:gd name="adj" fmla="val 3934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실습에서는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194560"/>
            <a:ext cx="4846320" cy="1783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SensorTrigger.cs → HR0 → GVL.ToPlc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PLC_PRG (CODESYS)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GVL.FromPlc → HR10 → ConveyorBelt.cs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80941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입출력 카드와 배선 자리를 Modbus 레지스터가 대신할 뿐, PLC 프로그램은 현장과 같습니다.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자주 나는 문제와 해결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206240" cy="795528"/>
          </a:xfrm>
          <a:prstGeom prst="roundRect">
            <a:avLst>
              <a:gd name="adj" fmla="val 13793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38404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2A2A"/>
                </a:solidFill>
              </a:rPr>
              <a:t>.qet 파일이 안 열림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846320" y="1650492"/>
            <a:ext cx="365760" cy="237744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49240" y="1371600"/>
            <a:ext cx="6263640" cy="795528"/>
          </a:xfrm>
          <a:prstGeom prst="roundRect">
            <a:avLst>
              <a:gd name="adj" fmla="val 13793"/>
            </a:avLst>
          </a:prstGeom>
          <a:solidFill>
            <a:srgbClr val="E8F4EE"/>
          </a:solidFill>
          <a:ln w="12700">
            <a:solidFill>
              <a:srgbClr val="E8F4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532120" y="1371600"/>
            <a:ext cx="58978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</a:rPr>
              <a:t>QElectroTech 최신 버전 설치 후 File &gt; Open으로 열기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04288"/>
            <a:ext cx="4206240" cy="795528"/>
          </a:xfrm>
          <a:prstGeom prst="roundRect">
            <a:avLst>
              <a:gd name="adj" fmla="val 13793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304288"/>
            <a:ext cx="38404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2A2A"/>
                </a:solidFill>
              </a:rPr>
              <a:t>Unity가 PLC에 연결 안 됨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2583180"/>
            <a:ext cx="365760" cy="237744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49240" y="2304288"/>
            <a:ext cx="6263640" cy="795528"/>
          </a:xfrm>
          <a:prstGeom prst="roundRect">
            <a:avLst>
              <a:gd name="adj" fmla="val 13793"/>
            </a:avLst>
          </a:prstGeom>
          <a:solidFill>
            <a:srgbClr val="E8F4EE"/>
          </a:solidFill>
          <a:ln w="12700">
            <a:solidFill>
              <a:srgbClr val="E8F4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532120" y="2304288"/>
            <a:ext cx="58978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</a:rPr>
              <a:t>Port 1502, Bind to Adapter OFF, Python 서버가 켜져 있는지 확인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236976"/>
            <a:ext cx="4206240" cy="795528"/>
          </a:xfrm>
          <a:prstGeom prst="roundRect">
            <a:avLst>
              <a:gd name="adj" fmla="val 13793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236976"/>
            <a:ext cx="38404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2A2A"/>
                </a:solidFill>
              </a:rPr>
              <a:t>센서 값이 PLC에 안 들어옴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46320" y="3515868"/>
            <a:ext cx="365760" cy="237744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49240" y="3236976"/>
            <a:ext cx="6263640" cy="795528"/>
          </a:xfrm>
          <a:prstGeom prst="roundRect">
            <a:avLst>
              <a:gd name="adj" fmla="val 13793"/>
            </a:avLst>
          </a:prstGeom>
          <a:solidFill>
            <a:srgbClr val="E8F4EE"/>
          </a:solidFill>
          <a:ln w="12700">
            <a:solidFill>
              <a:srgbClr val="E8F4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32120" y="3236976"/>
            <a:ext cx="58978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</a:rPr>
              <a:t>I/O Mapping에서 HR0~9가 GVL.ToPlc에 연결됐는지 확인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169664"/>
            <a:ext cx="4206240" cy="795528"/>
          </a:xfrm>
          <a:prstGeom prst="roundRect">
            <a:avLst>
              <a:gd name="adj" fmla="val 13793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4169664"/>
            <a:ext cx="38404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2A2A"/>
                </a:solidFill>
              </a:rPr>
              <a:t>MoveRight를 켜도 벨트가 안 움직임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46320" y="4448556"/>
            <a:ext cx="365760" cy="237744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49240" y="4169664"/>
            <a:ext cx="6263640" cy="795528"/>
          </a:xfrm>
          <a:prstGeom prst="roundRect">
            <a:avLst>
              <a:gd name="adj" fmla="val 13793"/>
            </a:avLst>
          </a:prstGeom>
          <a:solidFill>
            <a:srgbClr val="E8F4EE"/>
          </a:solidFill>
          <a:ln w="12700">
            <a:solidFill>
              <a:srgbClr val="E8F4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532120" y="4169664"/>
            <a:ext cx="58978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</a:rPr>
              <a:t>HR10~19 → GVL.FromPlc 연결, MoveLeft 동시 ON 여부 확인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5102352"/>
            <a:ext cx="4206240" cy="795528"/>
          </a:xfrm>
          <a:prstGeom prst="roundRect">
            <a:avLst>
              <a:gd name="adj" fmla="val 13793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5102352"/>
            <a:ext cx="38404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2A2A"/>
                </a:solidFill>
              </a:rPr>
              <a:t>2시간 뒤 PLC가 멈춤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46320" y="5381244"/>
            <a:ext cx="365760" cy="237744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49240" y="5102352"/>
            <a:ext cx="6263640" cy="795528"/>
          </a:xfrm>
          <a:prstGeom prst="roundRect">
            <a:avLst>
              <a:gd name="adj" fmla="val 13793"/>
            </a:avLst>
          </a:prstGeom>
          <a:solidFill>
            <a:srgbClr val="E8F4EE"/>
          </a:solidFill>
          <a:ln w="12700">
            <a:solidFill>
              <a:srgbClr val="E8F4E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532120" y="5102352"/>
            <a:ext cx="58978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</a:rPr>
              <a:t>라이선스 없는 런타임 제한. SysTray에서 Stop → Start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확인 문제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Q1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371600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</a:rPr>
              <a:t>비상정지 버튼에 a접점이 아닌 b접점을 쓰는 이유는?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350008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500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Q2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304288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</a:rPr>
              <a:t>NPN 출력 센서는 감지했을 때 신호선을 어느 쪽으로 끌어당기는가?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282696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2826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Q3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236976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</a:rPr>
              <a:t>3선식 센서에서 PLC 입력 단자로 가는 선의 색은?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215384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2153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Q4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169664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</a:rPr>
              <a:t>정역회전 회로에서 상대 접촉기의 b접점을 직렬로 넣는 회로를 무엇이라 하는가?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5148072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148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Q5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5102352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</a:rPr>
              <a:t>디지털트윈에서 LEFT=1, RIGHT=1이면 컨베이어는 어떻게 되는가?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오늘 정리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5544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도면은 전원 → 보호 → 변환 → 제어 → 부하 순서로 읽는다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33172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센서는 원리·대상으로 고르고 NPN/PNP와 입력 카드를 맞춘다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10896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정역회전은 인터록으로 동시 ON을 막는다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88620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I/O 할당표가 현장과 디지털트윈을 잇는다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47091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466344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CODESYS에서 HR0 → GVL.ToPlc, HR10 → GVL.FromPlc로 매핑했다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5486400"/>
            <a:ext cx="11064240" cy="685800"/>
          </a:xfrm>
          <a:prstGeom prst="roundRect">
            <a:avLst>
              <a:gd name="adj" fmla="val 16000"/>
            </a:avLst>
          </a:prstGeom>
          <a:solidFill>
            <a:srgbClr val="2B4A68"/>
          </a:solidFill>
          <a:ln w="12700">
            <a:solidFill>
              <a:srgbClr val="2B4A6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54864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다음 시간  3일차 · PLC 및 생산공정 제어 (자동 왕복 Ladder)</a:t>
            </a:r>
            <a:endParaRPr lang="en-US" sz="1600" dirty="0"/>
          </a:p>
        </p:txBody>
      </p:sp>
      <p:sp>
        <p:nvSpPr>
          <p:cNvPr id="21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2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Factory Steel">
  <a:themeElements>
    <a:clrScheme name="SmartFactory Steel">
      <a:dk1>
        <a:srgbClr val="1B2733"/>
      </a:dk1>
      <a:lt1>
        <a:srgbClr val="FFFFFF"/>
      </a:lt1>
      <a:dk2>
        <a:srgbClr val="17324D"/>
      </a:dk2>
      <a:lt2>
        <a:srgbClr val="EEF2F5"/>
      </a:lt2>
      <a:accent1>
        <a:srgbClr val="F2A900"/>
      </a:accent1>
      <a:accent2>
        <a:srgbClr val="2E9E6B"/>
      </a:accent2>
      <a:accent3>
        <a:srgbClr val="D64545"/>
      </a:accent3>
      <a:accent4>
        <a:srgbClr val="3D7EA6"/>
      </a:accent4>
      <a:accent5>
        <a:srgbClr val="7A8794"/>
      </a:accent5>
      <a:accent6>
        <a:srgbClr val="C9D3DC"/>
      </a:accent6>
      <a:hlink>
        <a:srgbClr val="1F6FB2"/>
      </a:hlink>
      <a:folHlink>
        <a:srgbClr val="6B4FA0"/>
      </a:folHlink>
    </a:clrScheme>
    <a:fontScheme name="SmartFactory Steel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58</Slides>
  <Notes>58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생산자동화관리 2일차 - 자동화 설비의 전기·제어 기초</dc:title>
  <dc:subject>PptxGenJS Presentation</dc:subject>
  <dc:creator>TWINIEX</dc:creator>
  <cp:lastModifiedBy>TWINIEX</cp:lastModifiedBy>
  <cp:revision>1</cp:revision>
  <dcterms:created xsi:type="dcterms:W3CDTF">2026-10-19T04:07:24Z</dcterms:created>
  <dcterms:modified xsi:type="dcterms:W3CDTF">2026-10-19T04:07:24Z</dcterms:modified>
</cp:coreProperties>
</file>