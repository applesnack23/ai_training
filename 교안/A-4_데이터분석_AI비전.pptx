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notesMasterIdLst>
    <p:notesMasterId r:id="rId5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1e399dc3-5177-f660-3899-dc4d705ab731}">
          <p14:sldIdLst>
            <p14:sldId id="256"/>
            <p14:sldId id="257"/>
            <p14:sldId id="258"/>
            <p14:sldId id="259"/>
            <p14:sldId id="260"/>
          </p14:sldIdLst>
        </p14:section>
        <p14:section name="1. pandas로 생산 데이터 읽기" id="{7ab94110-1d64-7d36-b2a8-76c0e6fa4e41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2. matplotlib 시각화" id="{c426a981-6d4b-5a6e-1725-131d08597ea9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3. 컴퓨터 비전과 YOLO" id="{72b91a34-0180-cc42-41ea-a2e7c46171f0}">
          <p14:sldIdLst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4. Unity에서 데이터셋 만들기" id="{5390ce71-0990-401d-2cb7-98da5119c828}">
          <p14:sldIdLst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</p14:sldIdLst>
        </p14:section>
        <p14:section name="5. YOLO11n 학습" id="{87959abb-65c9-2b6f-d222-c7476d1c2540}">
          <p14:sldIdLst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</p14:sldIdLst>
        </p14:section>
        <p14:section name="6. 실시간 추론" id="{0124639a-9b55-21ed-b59e-ee3cf6b9f9ec}">
          <p14:sldIdLst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4일차는 데이터의 날입니다. 오전에는 2일차에 모은 동작 데이터를 분석하고, 오후에는 디지털트윈 카메라로 영상 데이터를 만들어 AI를 학습시킵니다.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결과물 네 가지를 차례로 만듭니다. 학습은 PC 성능에 따라 시간이 걸리므로 5교시 시작과 함께 바로 돌립니다.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패키지 설치는 사전에 해 두는 것이 좋습니다. GPU가 없어도 실습은 가능하지만 학습 시간이 길어집니다.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yolo11n.pt는 conveyor_od 폴더에 들어 있습니다. 파일을 지웠다면 Ultralytics가 처음 실행할 때 다시 내려받으므로, 교육장 인터넷이 막혀 있으면 폴더에 그대로 두세요.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오전은 표 데이터, 오후는 영상 데이터입니다. 두 데이터 모두 디지털트윈에서 나왔다는 점이 공통입니다.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분석은 계산보다 질문이 먼저입니다. 이 데이터로 무엇을 알고 싶은지 먼저 적게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LastSensor는 센서 사이에 있을 때 어느 쪽에서 왔는지를 기억하는 값입니다. 이 열이 있어야 AI가 방향을 판단할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데이터를 받으면 크기와 앞부분부터 봅니다. 동작별 개수와 비율로 데이터의 균형을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crosstab은 엑셀의 피벗 테이블과 같습니다. 같은 상태에서 동작이 여러 개면 학습 모델이 헷갈립니다.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shift로 한 칸 밀어 다음 값과 비교하면 전이를 셀 수 있습니다. 대각선 밖의 숫자가 동작이 바뀐 순간입니다.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0.05초마다 기록했기 때문에 같은 동작 유지가 압도적으로 많습니다. 전환 칸의 숫자가 실제 왕복 횟수와 관련됩니다.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CSV에는 Lost가 없으므로 Lost 비율은 수집할 때 콘솔에서 확인해야 합니다. 데이터가 어떻게 만들어졌는지 아는 것이 분석의 출발점입니다.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데이터가 없는 학생은 강사가 준비한 il_dataset.csv를 씁니다. 결론을 문장으로 쓰는 습관을 들이게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1교시에 숫자로 본 것을 그림으로 다시 봅니다. 숫자와 그림이 같은 이야기를 하는지 확인하게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il_visualize.py의 첫 그래프 부분입니다. reindex로 동작 순서를 고정하는 이유를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번째와 세 번째 그래프 부분입니다. 계단 그래프는 PLC 출력의 시간 변화를 보기에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교재 준비 과정에서 세 OS 모두에서 실행되도록 수정된 부분입니다. 창이 안 뜨면 PNG 파일이 저장되었는지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그래프 3의 계단 모양에서 왕복 횟수를 세는 것이 재미있는 활동입니다. 1교시 전이 행렬의 전환 횟수와 비교해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그래프는 결론을 내리기 위한 도구입니다. 마지막 질문, 다음에 무엇을 할지까지 답하게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흔한 실수는 다른 폴더에서 실행하는 것입니다. 스크립트는 자기 폴더의 CSV를 찾도록 되어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이미지가 숫자라는 점을 먼저 받아들이면 AI가 이미지를 다루는 방식이 쉬워집니다. 640×480 컬러 이미지는 약 92만 개의 숫자입니다.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현재 데이터셋은 BOX 한 클래스입니다. 클래스를 늘리려면 Unity에 다른 모양의 박스를 추가해야 한다는 점을 심화 과제로 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구조의 세부보다 한 번에 예측한다는 특징이 중요합니다. 그래서 30 FPS 영상도 따라갈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정규화 덕분에 이미지 크기가 바뀌어도 라벨을 그대로 쓸 수 있습니다. 오늘은 Unity가 이 파일을 자동으로 만들어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Precision과 Recall은 서로 줄다리기 관계입니다. 학습 결과 화면에서 이 네 지표를 다시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모두 실제 코드에 들어 있는 값입니다. od_train.py와 od_run.py, VisionCemeraSender.cs에서 찾아보게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전이학습 개념을 짧게 소개합니다. 수백 장의 이미지로도 쓸 만한 결과가 나오는 이유입니다.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현실에서는 라벨링이 가장 비싼 작업입니다. 디지털트윈이 이 비용을 없애 준다는 점이 오늘의 핵심 메시지입니다.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클래스 이름은 YOLO_DatasetCapture이고 파일 이름은 YoloDatasetCapture.cs입니다. Inspector에서 값을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라벨 파일은 이 몇 줄로 만들어집니다. 소수 여섯 자리 정규화 좌표가 YOLO 형식입니다.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키가 자동 촬영 토글입니다. 2일차 키보드 Expert의 A와 겹치지만 입력받는 창이 다르므로 충돌하지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컨베이어가 움직이는 동안 촬영하면 다양한 위치의 박스 이미지를 얻습니다. 같은 장면만 찍지 않도록 박스를 옮겨 가며 촬영합니다.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Unity는 images와 labels를 한 폴더에 모아 저장하므로 직접 나눠야 합니다. 이미지와 라벨의 짝이 어긋나면 학습이 엉망이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data.yaml은 데이터가 어디 있고 클래스가 무엇인지 알려주는 지도입니다. 경로 오타가 가장 흔한 오류입니다.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OS 모두에서 같은 코드가 돌도록 장치를 자동 선택합니다. 이 부분은 이번 과정 준비 중에 추가되었습니다.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학습은 사실상 이 한 번의 호출입니다. 옵션의 의미를 알면 상황에 맞게 조절할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교육장 PC 성능을 미리 확인해 시간 계획을 세웁니다. 메모리 오류는 batch를 줄이면 대부분 해결됩니다.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학습이 도는 동안 3교시 평가지표를 다시 설명하면 시간을 잘 쓸 수 있습니다. 같은 이름으로 다시 돌리면 box_train2처럼 새 폴더가 생기는 점에 주의합니다.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추론 단계에서 모델을 못 찾는 오류는 대부분 이 폴더 이름 문제입니다. 학습 결과 폴더를 꼭 확인하게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대부분의 문제는 데이터에서 옵니다. 이미지와 라벨 짝, Negative 비율을 먼저 점검하게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오류 메시지의 마지막 줄을 읽는 습관을 들이게 합니다. 대부분 원인이 그대로 적혀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통신 채널이 두 개라는 점을 분명히 합니다. 제어 신호는 가볍고 빠른 Modbus, 무거운 영상은 HTTP로 보냅니다.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Unity는 30분의 1초마다 카메라 이미지를 JPEG로 압축해 보냅니다. 클래스 이름과 파일 이름이 다르다는 점을 짚습니다.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Flask가 받은 바이트를 이미지로 되돌리고 YOLO에 넣습니다. macOS에서 창을 띄우기 위해 메인 스레드에서 처리합니다.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검출 결과는 상자마다 클래스, 신뢰도, 좌표를 가집니다. 좌표 표현이 라벨 파일과 다르다는 점을 비교합니다.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제어기(PLC 또는 Python)와 od_run.py를 함께 실행하면 움직이는 박스를 실시간으로 검출할 수 있습니다. 창을 q로 닫아도 다음 프레임에 다시 열립니다.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 폴더에 비슷한 서버가 두 개 있어 혼동하기 쉽습니다. 교재에서는 od_run.py로 통일합니다.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비전은 센서를 대체하거나 보완할 수 있습니다. 5일차 AI 제어와 결합하는 아이디어로 연결합니다.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흔한 오류는 학습 결과 폴더 이름이 box_train이 아닌 경우입니다. 폴더 이름을 맞추거나 최신 best.pt를 복사합니다.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
Q1. Expert(사람 또는 PLC)의 동작이 일관되지 않음 — 학습이 어려워짐
Q2. 분류는 이미지 전체가 무엇인지, 검출은 어디에 무엇이 있는지(상자 + 클래스)를 찾는다
Q3. class=0(BOX), 중심 x, 중심 y, 너비, 높이 (모두 0~1 정규화)
Q4. Negative Sample로 배경을 학습시켜 헛것을 찾지 않게 하려고
Q5. 영상: HTTP POST :8000 (/frame), 제어: Modbus TCP :1502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분석한 동작 데이터는 5일차 모방학습과 비교 실습에 다시 쓰입니다. 데이터 파일을 지우지 않도록 안내합니다.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48840"/>
            <a:ext cx="106070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57600"/>
            <a:ext cx="106070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794"/>
                </a:solidFill>
              </a:rPr>
              <a:t>스마트제조 기초실습  ·  4일차  생산 데이터 분석 및 AI Vision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python.org/downloads/" TargetMode="External"/><Relationship Id="rId2" Type="http://schemas.openxmlformats.org/officeDocument/2006/relationships/hyperlink" Target="https://pytorch.org/get-started/locally/" TargetMode="Externa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ultralytics.com/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</a:rPr>
              <a:t>스마트제조 기초실습  ·  4일차</a:t>
            </a:r>
            <a:endParaRPr lang="en-US" sz="1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14884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생산 데이터 분석 및 AI Vision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657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pandas로 수집 데이터를 읽고, Unity 카메라로 YOLO 박스 검출 모델 만들기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2496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9424" y="5394960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16352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50208" y="5394960"/>
            <a:ext cx="384048" cy="384048"/>
          </a:xfrm>
          <a:prstGeom prst="ellipse">
            <a:avLst/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54406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DC"/>
                </a:solidFill>
              </a:rPr>
              <a:t>5일 × 6시간 과정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오늘의 목표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4173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733"/>
                </a:solidFill>
              </a:rPr>
              <a:t>pandas로 수집 데이터의 동작 분포와 상태 전이를 분석한다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46888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733"/>
                </a:solidFill>
              </a:rPr>
              <a:t>Unity에서 YOLO 학습용 데이터셋을 자동으로 만든다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52044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733"/>
                </a:solidFill>
              </a:rPr>
              <a:t>YOLO11n 모델을 학습시켜 실시간으로 박스를 검출한다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818120" y="1371600"/>
            <a:ext cx="3822192" cy="4480560"/>
          </a:xfrm>
          <a:prstGeom prst="roundRect">
            <a:avLst>
              <a:gd name="adj" fmla="val 2871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92440" y="1645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오늘 만들 결과물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2194560"/>
            <a:ext cx="3337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분석 결과 그래프 (il_visualize.py)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박스 데이터셋 (images + labels)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학습된 best.pt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실시간 검출 화면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오늘 쓰는 도구 · 설치 (1)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Python 3.12에 패키지를 한 번에 설치합니다 (가상환경 권장)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35680" cy="4297680"/>
          </a:xfrm>
          <a:prstGeom prst="roundRect">
            <a:avLst>
              <a:gd name="adj" fmla="val 310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Python 3.12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</a:rPr>
              <a:t>Windows · Ubuntu · macOS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3078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Windows는 Add python.exe to PATH 체크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python -m venv .venv 로 가상환경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Windows: .venv\Scripts\activate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macOS·Ubuntu: source .venv/bin/activate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394960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F6FB2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python.org/downloads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12920" y="1737360"/>
            <a:ext cx="3535680" cy="4297680"/>
          </a:xfrm>
          <a:prstGeom prst="roundRect">
            <a:avLst>
              <a:gd name="adj" fmla="val 310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41520" y="192024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분석·비전 패키지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41520" y="2377440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</a:rPr>
              <a:t>pip 한 줄 설치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41520" y="2788920"/>
            <a:ext cx="3078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pip install pandas matplotlib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pip install ultralytics opencv-python flask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macOS·Ubuntu는 pip3 사용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ultralytics가 PyTorch를 함께 설치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77200" y="1737360"/>
            <a:ext cx="3535680" cy="4297680"/>
          </a:xfrm>
          <a:prstGeom prst="roundRect">
            <a:avLst>
              <a:gd name="adj" fmla="val 310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05800" y="192024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PyTorch GPU (선택)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05800" y="2377440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</a:rPr>
              <a:t>NVIDIA GPU가 있을 때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305800" y="2788920"/>
            <a:ext cx="3078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사이트에서 OS·CUDA 버전 선택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표시된 pip 명령으로 재설치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GPU 없으면 CPU, Apple Silicon은 MPS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05800" y="5394960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F6FB2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pytorch.org/get-started/locally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오늘 쓰는 도구 · 설치 (2)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공식 문서와 실습 파일 위치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35680" cy="4297680"/>
          </a:xfrm>
          <a:prstGeom prst="roundRect">
            <a:avLst>
              <a:gd name="adj" fmla="val 310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Ultralytics YOLO 문서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</a:rPr>
              <a:t>YOLO11 학습·추론 옵션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3078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Train, Predict 모드 설명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데이터셋 YAML 형식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평가지표(mAP) 설명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394960"/>
            <a:ext cx="307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F6FB2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docs.ultralytics.com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12920" y="1737360"/>
            <a:ext cx="3535680" cy="4297680"/>
          </a:xfrm>
          <a:prstGeom prst="roundRect">
            <a:avLst>
              <a:gd name="adj" fmla="val 310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41520" y="192024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실습 파일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41520" y="2377440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</a:rPr>
              <a:t>PhysicalAI_Training/AI_Training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41520" y="2788920"/>
            <a:ext cx="3078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conveyor_il/il_dataset.csv, il_visualize.py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conveyor_od/data.yaml, od_train.py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conveyor_od/od_run.py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yolo11n.pt (conveyor_od 폴더에 포함)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77200" y="1737360"/>
            <a:ext cx="3535680" cy="4297680"/>
          </a:xfrm>
          <a:prstGeom prst="roundRect">
            <a:avLst>
              <a:gd name="adj" fmla="val 310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05800" y="192024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Unity 디지털트윈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05800" y="2377440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8794"/>
                </a:solidFill>
              </a:rPr>
              <a:t>에디터 또는 빌드본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305800" y="2788920"/>
            <a:ext cx="30784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YoloDatasetCapture.cs: 데이터셋 촬영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VisionCemeraSender.cs: 실시간 전송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B2733"/>
                </a:solidFill>
              </a:rPr>
              <a:t>촬영은 에디터에서, 전송은 둘 다 가능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오늘의 시간표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5448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00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</a:rPr>
              <a:t>실습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pandas 기초: 동작 분포, 상태 전이, Lost 확인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0" y="13258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55448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1600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</a:rPr>
              <a:t>실습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19456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matplotlib 시각화와 결과 해석 (il_visualize.py)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46720" y="132588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155448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1600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7EA6"/>
                </a:solidFill>
              </a:rPr>
              <a:t>이론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19456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OpenCV 기초, 검출 vs 분류, YOLO 구조와 mAP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97764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4023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</a:rPr>
              <a:t>실습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6177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Unity에서 YOLO 데이터셋 자동 생성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297680" y="37490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26280" y="397764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2628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166360" y="4023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</a:rPr>
              <a:t>실습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46177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YOLO11n 학습 (CUDA · MPS · CPU 자동 선택)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046720" y="3749040"/>
            <a:ext cx="3566160" cy="2148840"/>
          </a:xfrm>
          <a:prstGeom prst="roundRect">
            <a:avLst>
              <a:gd name="adj" fmla="val 5106"/>
            </a:avLst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75320" y="3977640"/>
            <a:ext cx="502920" cy="5029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7532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915400" y="4023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6B"/>
                </a:solidFill>
              </a:rPr>
              <a:t>실습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6177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실시간 추론: Unity 카메라 → :8000 → 검출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1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pandas로 생산 데이터 읽기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동작 분포 · 상태 전이 · 일관성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데이터 분석은 네 단계로 한다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불러오기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read_csv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크기·열 확인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7009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1757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5473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정리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55473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결측·이상값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자료형 확인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3902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8650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2366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집계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2366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value_counts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crosstab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80795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5543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9259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해석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29259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그래프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결론 한 줄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2976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오늘 데이터는 2일차 il_collect_manual.py(또는 il_collect.py)로 모은 il_dataset.csv다.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il_dataset.csv의 구조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94560"/>
                <a:gridCol w="64922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열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값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의미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Sensor01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 / 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왼쪽 끝 센서 (HR0 bit0)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Sensor02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 / 1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오른쪽 끝 센서 (HR0 bit1)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LastSensor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 / 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마지막으로 감지된 센서 (처음은 1)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Action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 / 1 / 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Expert 동작: STOP / LEFT / RIGHT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8794"/>
                </a:solidFill>
              </a:rPr>
              <a:t>0.05초(SAMPLE_TIME)마다 한 줄. WorkpieceLost가 1인 순간은 저장하지 않는다.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불러오기와 동작 분포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예제: analysis.py (conveyor_il 폴더에서 실행)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pd.read_csv("il_dataset.csv")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print(df.shape)        # (행 수, 열 수)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print(df.head())       # 앞 5줄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print(df.dtypes)       # 자료형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counts = df["Action"].value_counts().sort_index()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print(counts)          # 0=STOP, 1=LEFT, 2=RIGHT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ratio = df["Action"].value_counts(normalize=True)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print(ratio.round(3))  # 비율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print("수집 시간(초):", len(df) * 0.05)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shape로 샘플 수부터 확인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value_counts로 동작별 개수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normalize=True면 비율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샘플 수 × 0.05초 = 수집 시간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상태별로 어떤 동작을 했나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예제: analysis.py (이어서)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state_action = pd.crosstab(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[df["Sensor01"], df["Sensor02"], df["LastSensor"]],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df["Action"],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print(state_action)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같은 상태에서 동작이 몇 가지였나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consistency = (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df.groupby(["Sensor01", "Sensor02", "LastSensor"])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["Action"].nunique()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print(consistency)   # 2 이상이면 같은 상태에서 다른 동작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crosstab = 상태 × 동작 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행: (S1, S2, Last) 조합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nunique가 1이면 일관된 Expert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2 이상이면 키 입력이 흔들린 것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동작이 언제 바뀌었나: 상태 전이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예제: analysis.py (이어서)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다음 샘플의 동작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next_action = df["Action"].shift(-1)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전이 행렬: 지금 동작 → 다음 동작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transition = pd.crosstab(df["Action"], next_action)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print(transition)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동작이 바뀐 횟수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changed = (df["Action"] != df["Action"].shift()).sum() - 1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print("동작 변경 횟수:", changed)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shift(-1)로 다음 행과 비교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대각선 = 같은 동작 유지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대각선 밖 = 동작 전환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RIGHT → LEFT 직행이 많으면 STOP 없이 반전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전이 행렬 읽는 법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  <a:gridCol w="2834640"/>
                <a:gridCol w="29260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지금 \ 다음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STOP (0)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LEFT (1)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RIGHT (2)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STOP (0)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정지 유지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왼쪽 출발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오른쪽 출발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LEFT (1)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왼쪽 끝 도착 후 정지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왼쪽 이동 유지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정지 없이 반전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RIGHT (2)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오른쪽 끝 도착 후 정지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정지 없이 반전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오른쪽 이동 유지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8794"/>
                </a:solidFill>
              </a:rPr>
              <a:t>값은 각자 데이터에서 계산한다. 대각선 값이 크고 나머지가 작은 것이 정상이다.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데이터에서 확인할 세 가지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5200" cy="2439924"/>
          </a:xfrm>
          <a:prstGeom prst="roundRect">
            <a:avLst>
              <a:gd name="adj" fmla="val 449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균형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56560" cy="143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STOP·LEFT·RIGHT 비율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한쪽이 너무 적으면 학습이 어려움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371600"/>
            <a:ext cx="3505200" cy="2439924"/>
          </a:xfrm>
          <a:prstGeom prst="roundRect">
            <a:avLst>
              <a:gd name="adj" fmla="val 449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248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일관성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194560"/>
            <a:ext cx="2956560" cy="143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같은 상태 → 같은 동작인가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사람 Expert는 흔들릴 수 있음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371600"/>
            <a:ext cx="3505200" cy="2439924"/>
          </a:xfrm>
          <a:prstGeom prst="roundRect">
            <a:avLst>
              <a:gd name="adj" fmla="val 4497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Lost 제외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194560"/>
            <a:ext cx="2956560" cy="143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WorkpieceLost = 1인 순간은 저장 안 함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정상 동작만 학습에 사용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131564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Lost 샘플은 il_collect 단계에서 이미 빠졌다. 콘솔의 Lost=1 로그로 몇 번 있었는지 기록해 둔다.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실습: 내 데이터 분석하기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1391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13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conveyor_il 폴더에 il_dataset.csv가 있는지 확인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24028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예제 analysis.py를 만들어 세 코드 블록 입력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5127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10896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샘플 수, 동작 비율, 수집 시간을 기록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199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97764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상태 × 동작 표에서 일관되지 않은 상태 찾기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08863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88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84632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결론을 한 줄로 적기 (예: RIGHT가 LEFT보다 많다)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92440" y="137160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1488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샘플 수 1,000개 이상 권장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nunique 2 이상인 상태 개수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결론 한 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2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matplotlib 시각화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il_visualize.py · 그래프 세 개로 데이터 읽기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il_visualize.py가 그리는 그래프 세 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1. 동작 분포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STOP·LEFT·RIGHT 막대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막대 위에 개수 표시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37160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248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2. 상태-동작 분포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19456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(S1, S2, Last) → 동작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가로 막대로 조합별 개수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37160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3. 동작 타임라인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19456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샘플 순서대로 동작 값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계단 그래프로 왕복 패턴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855339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세 그래프는 1교시의 value_counts, crosstab, 전이 분석을 그림으로 옮긴 것이다.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그래프 1: 동작 분포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AI_Training/conveyor_il/il_visualize.py (발췌)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action_counts = (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df["Action"]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.value_counts()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.reindex([0, 1, 2], fill_value=0)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action_labels = [ACTION_NAMES[a] for a in action_counts.index]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bars = axes[0].bar(action_labels, action_counts.values)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axes[0].set_title("1. PLC Expert Action Distribution")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axes[0].set_xlabel("Expert Action")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axes[0].set_ylabel("Samples")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reindex로 0·1·2 순서 고정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없는 동작은 0으로 채움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bar로 막대 그래프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제목·축 이름은 영어 (한글 글꼴 문제 회피)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그래프 2·3: 상태-동작과 타임라인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AI_Training/conveyor_il/il_visualize.py (발췌)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state_counts = (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df.groupby(["Sensor01", "Sensor02",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"LastSensor", "Action"])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.size()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.reset_index(name="Count")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axes[1].barh(state_counts["State"], state_counts["Count"])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Action Timeline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axes[2].step(range(len(df)), df["Action"], where="post")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axes[2].set_title("3. PLC Expert Action Timeline")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groupby + size = 조합별 개수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barh = 가로 막대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step = 계단 그래프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x축은 샘플 번호 (× 0.05초)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창으로 보기 vs PNG로 저장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604516"/>
          </a:xfrm>
          <a:prstGeom prst="roundRect">
            <a:avLst>
              <a:gd name="adj" fmla="val 42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화면이 있을 때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4846320" cy="1507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Windows: TkAgg, macOS: macosx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Ubuntu: TkAgg 또는 QtAgg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plt.show()로 창 열기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2604516"/>
          </a:xfrm>
          <a:prstGeom prst="roundRect">
            <a:avLst>
              <a:gd name="adj" fmla="val 421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A900"/>
                </a:solidFill>
              </a:rPr>
              <a:t>화면이 없을 때 (SSH 등)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240280"/>
            <a:ext cx="4846320" cy="1507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자동으로 Agg 선택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il_dataset_plot.png로 저장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경로가 콘솔에 출력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96156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il_visualize.py는 OS를 보고 그래프 방식을 스스로 고른다. Ubuntu에서 창을 보려면 python3-tk 설치.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실습: 그래프 그리고 해석하기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1391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13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cd AI_Training/conveyor_il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24028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python il_visualize.py 실행 (macOS·Ubuntu: python3)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5127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10896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그래프 1에서 가장 많은 동작과 적은 동작 확인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199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97764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그래프 2에서 같은 상태에 두 동작이 있는 줄 찾기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08863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88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84632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그래프 3에서 왕복 횟수를 세어 보기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92440" y="137160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1488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콘솔: Samples : 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창 또는 il_dataset_plot.png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해석 메모 3줄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그래프를 볼 때 묻는 질문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많고 적음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어떤 동작이 가장 많은가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STOP이 너무 많지 않은가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흔들림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194560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같은 상태에 다른 동작이 있는가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사람 실수인가, 규칙인가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533394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76199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패턴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356354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왕복이 규칙적인가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중간에 멈춘 구간은 왜 생겼나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3533394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376199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다음 행동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356354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데이터를 더 모을까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5일차 학습에 그대로 쓸까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1·2교시 문제 해결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206240" cy="1005840"/>
          </a:xfrm>
          <a:prstGeom prst="roundRect">
            <a:avLst>
              <a:gd name="adj" fmla="val 10909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</a:rPr>
              <a:t>FileNotFoundError: il_dataset.csv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846320" y="1755648"/>
            <a:ext cx="365760" cy="237744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49240" y="1371600"/>
            <a:ext cx="6263640" cy="1005840"/>
          </a:xfrm>
          <a:prstGeom prst="roundRect">
            <a:avLst>
              <a:gd name="adj" fmla="val 10909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532120" y="1371600"/>
            <a:ext cx="5897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conveyor_il 폴더에서 실행했는지 확인. 2일차 수집 파일 복사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4206240" cy="1005840"/>
          </a:xfrm>
          <a:prstGeom prst="roundRect">
            <a:avLst>
              <a:gd name="adj" fmla="val 10909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5146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</a:rPr>
              <a:t>그래프 창이 안 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2898648"/>
            <a:ext cx="365760" cy="237744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49240" y="2514600"/>
            <a:ext cx="6263640" cy="1005840"/>
          </a:xfrm>
          <a:prstGeom prst="roundRect">
            <a:avLst>
              <a:gd name="adj" fmla="val 10909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32120" y="2514600"/>
            <a:ext cx="5897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콘솔에 [PLOT] 경로가 있으면 PNG로 저장된 것. Ubuntu는 python3-tk 설치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4206240" cy="1005840"/>
          </a:xfrm>
          <a:prstGeom prst="roundRect">
            <a:avLst>
              <a:gd name="adj" fmla="val 10909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6576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</a:rPr>
              <a:t>ModuleNotFoundError: pandas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4041648"/>
            <a:ext cx="365760" cy="237744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49240" y="3657600"/>
            <a:ext cx="6263640" cy="1005840"/>
          </a:xfrm>
          <a:prstGeom prst="roundRect">
            <a:avLst>
              <a:gd name="adj" fmla="val 10909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32120" y="3657600"/>
            <a:ext cx="5897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가상환경 활성화 확인 후 pip install pandas matplotlib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3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컴퓨터 비전과 YOLO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OpenCV · 검출 vs 분류 · 평가지표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컴퓨터에게 이미지는 숫자 배열이다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픽셀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높이 × 너비 × 색(3)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각 값은 0~255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37160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248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OpenCV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19456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이미지 읽기·변환·표시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imdecode, imshow, waitKey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37160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BGR 순서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19456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OpenCV는 파랑·초록·빨강 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RGB와 순서가 반대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855339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Unity 카메라 이미지는 JPEG로 압축되어 오고, od_run.py가 cv2.imdecode로 숫자 배열로 되돌린다.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분류와 검출은 묻는 것이 다르다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328291"/>
          </a:xfrm>
          <a:prstGeom prst="roundRect">
            <a:avLst>
              <a:gd name="adj" fmla="val 47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분류 (Classification)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484632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이 이미지는 무엇인가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이미지 전체에 라벨 하나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예: 정상 / 불량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2328291"/>
          </a:xfrm>
          <a:prstGeom prst="roundRect">
            <a:avLst>
              <a:gd name="adj" fmla="val 471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A900"/>
                </a:solidFill>
              </a:rPr>
              <a:t>검출 (Detection)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240280"/>
            <a:ext cx="484632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어디에 무엇이 있는가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물체마다 상자 + 클래스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예: BOX가 (x, y, w, h)에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19931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오늘은 검출을 한다. data.yaml의 클래스는 BOX 하나이며, 색·불량 등 클래스를 늘리면 분류까지 함께 할 수 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YOLO는 한 번 보고 모두 찾는다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입력 이미지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640 크기로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조정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96312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43784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80944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백본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980944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특징 추출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(모양·윤곽)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91456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38928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76088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넥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276088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여러 크기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특징 결합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86600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34072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71232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헤드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571232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상자·클래스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·신뢰도 예측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381744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29216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66376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후처리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866376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중복 상자 제거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conf 0.5 이상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2976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You Only Look Once: 이미지를 한 번 통과시켜 모든 물체를 동시에 찾으므로 실시간 처리가 가능하다.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YOLO 라벨 파일 형식</a:t>
            </a:r>
            <a:endParaRPr lang="en-US" sz="3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560320"/>
                <a:gridCol w="63093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예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의미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class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클래스 번호 (0 = BOX)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centerX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0.512345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상자 중심 x / 이미지 너비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centerY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0.430000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상자 중심 y / 이미지 높이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width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0.120000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상자 너비 / 이미지 너비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height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0.150000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상자 높이 / 이미지 높이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8794"/>
                </a:solidFill>
              </a:rPr>
              <a:t>한 줄 = 물체 하나. 모든 값은 0~1로 정규화. 물체가 없으면 빈 파일(Negative Sample). 예 값은 설명용.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얼마나 잘 찾았나: 평가지표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IoU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예측 상자와 정답 상자의 겹침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겹친 넓이 / 합친 넓이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Precision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194560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찾은 것 중 맞은 비율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헛것을 덜 찾을수록 높음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533394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76199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Recall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356354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정답 중 찾아낸 비율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놓친 것이 적을수록 높음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3533394"/>
            <a:ext cx="5394960" cy="1887474"/>
          </a:xfrm>
          <a:prstGeom prst="roundRect">
            <a:avLst>
              <a:gd name="adj" fmla="val 581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376199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mAP50 · mAP50-95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356354"/>
            <a:ext cx="484632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IoU 0.5 기준 평균 정확도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0.5~0.95 여러 기준의 평균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오늘 쓰는 숫자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0574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7324D"/>
                </a:solidFill>
              </a:rPr>
              <a:t>640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46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학습 이미지 크기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(imgsz)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383280" y="173736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66160" y="20574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7324D"/>
                </a:solidFill>
              </a:rPr>
              <a:t>50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3246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학습 반복 횟수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(epochs)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20574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7324D"/>
                </a:solidFill>
              </a:rPr>
              <a:t>0.5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3246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검출 신뢰도 기준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(conf)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052560" y="173736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35440" y="20574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7324D"/>
                </a:solidFill>
              </a:rPr>
              <a:t>30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9235440" y="32461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Unity 전송 FPS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(sendInterval 1/30)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왜 YOLO11n인가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5200" cy="2439924"/>
          </a:xfrm>
          <a:prstGeom prst="roundRect">
            <a:avLst>
              <a:gd name="adj" fmla="val 449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n = nano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56560" cy="143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가장 작은 크기의 모델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노트북 CPU에서도 학습 가능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371600"/>
            <a:ext cx="3505200" cy="2439924"/>
          </a:xfrm>
          <a:prstGeom prst="roundRect">
            <a:avLst>
              <a:gd name="adj" fmla="val 449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248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사전학습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194560"/>
            <a:ext cx="2956560" cy="143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yolo11n.pt는 이미 많은 물체를 학습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우리 박스만 추가로 배움 (전이학습)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371600"/>
            <a:ext cx="3505200" cy="2439924"/>
          </a:xfrm>
          <a:prstGeom prst="roundRect">
            <a:avLst>
              <a:gd name="adj" fmla="val 4497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충분한 성능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194560"/>
            <a:ext cx="2956560" cy="143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배경 단순, 박스 하나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작은 모델로도 높은 정확도 기대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131564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처음부터 학습하는 대신 사전학습 모델을 출발점으로 쓰면 적은 데이터와 짧은 시간으로 학습할 수 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4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Unity에서 데이터셋 만들기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YoloDatasetCapture.cs · 자동 라벨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촬영 한 번에 이미지와 라벨이 함께 생긴다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VisionCamera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640×480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렌더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7009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1757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5473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JPG 저장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55473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images/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box_000000.jpg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3902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8650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2366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Box 찾기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2366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Tag = Box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화면 위치 계산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807958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55430" y="2011680"/>
            <a:ext cx="2457450" cy="1920240"/>
          </a:xfrm>
          <a:prstGeom prst="roundRect">
            <a:avLst>
              <a:gd name="adj" fmla="val 5714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92590" y="21945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라벨 저장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292590" y="2788920"/>
            <a:ext cx="21831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labels/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box_000000.txt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2976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사람이 상자를 그리지 않아도 된다. 디지털트윈은 박스의 정확한 위치를 알고 있기 때문이다.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YoloDatasetCapture 설정값</a:t>
            </a:r>
            <a:endParaRPr lang="en-US" sz="30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2560320"/>
                <a:gridCol w="49377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기본값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의미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visionCamera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(연결 필요)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촬영할 카메라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targetTag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Box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찾을 물체의 Tag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datasetFolder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YOLO_Dataset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Unity 프로젝트 루트에 생성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imageWidth × imageHeight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640 × 480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저장 이미지 크기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jpegQuality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95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JPG 품질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captureKey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Space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수동 촬영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captureInterval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0.2초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A 키로 켜는 자동 촬영 간격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라벨 한 줄을 만드는 코드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ConveyorURP/Assets/Scripts/YoloDatasetCapture.cs (발췌)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(TryGetYoloBoundingBox(targetBox, visionCamera,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out float centerX, out float centerY,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out float width, out float height))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class centerX centerY width height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Class 0 = BOX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label = $"0 "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+ $"{centerX:F6} " + $"{centerY:F6} "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+ $"{width:F6} " + $"{height:F6}";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File.WriteAllText(labelPath, label);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labelCreated = true;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Box가 없거나 화면에 안 보이면 빈 TXT (Negative Sample)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(!labelCreated) File.WriteAllText(labelPath, string.Empty);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박스 3D 위치 → 화면 상자 계산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소수 6자리로 저장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박스가 없으면 빈 파일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빈 파일도 학습에 필요 (배경 학습)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키 입력: Space와 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ConveyorURP/Assets/Scripts/YoloDatasetCapture.cs (Update 발췌)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SPACE : 수동 Capture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(Input.GetKeyDown(captureKey))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StartCoroutine(CaptureDataset());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 : Auto Capture ON / OFF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(Input.GetKeyDown(KeyCode.A))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autoCapture = !autoCapture;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captureTimer = 0f;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Auto Capture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(autoCapture)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captureTimer += Time.deltaTime;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(captureTimer &gt;= captureInterval) { /* 촬영 */ 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Space = 한 장씩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A = 자동 촬영 켜기/끄기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0.2초마다 1장 = 초당 5장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주의: 2일차 il_collect_manual.py의 A(LEFT)와 다른 창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실습: 데이터셋 촬영하기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1391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13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Unity 에디터에서 YOLO_DatasetCapture 컴포넌트 확인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24028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Python 제어기(Conveyor_cycle.py)로 컨베이어 왕복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5127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10896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Play 후 A 키로 자동 촬영 켜기 (Game 창 클릭 후)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199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97764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박스 위치·개수를 바꾸며 2~3분 촬영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08863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88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84632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박스 없는 장면도 몇 장 촬영 (Negative)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92440" y="137160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1488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Console: [YOLO] SAVE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이미지 300장 이상 권장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NO BOX 샘플 포함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실습: train / val 폴더로 나누기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A8794"/>
                </a:solidFill>
              </a:rPr>
              <a:t>data.yaml은 dataset/images/train, dataset/images/val을 찾는다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061972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619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828800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Unity 프로젝트 루트의 YOLO_Dataset 폴더 열기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912364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9123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679192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conveyor_od/dataset/images/train, val 폴더 만들기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7627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7627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529584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labels/train, labels/val도 같은 구조로 만들기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613148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6131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379976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약 80%는 train, 20%는 val로 옮기기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463540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4635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5230368"/>
            <a:ext cx="6675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이미지와 같은 이름의 txt를 같은 쪽으로 옮기기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092440" y="1828800"/>
            <a:ext cx="3547872" cy="42062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1040" y="2057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260604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images와 labels 파일 수가 같음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box_000123.jpg ↔ box_000123.txt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val에도 Negative 포함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data.yaml과 폴더 구조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AI_Training/conveyor_od/data.yaml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train: dataset/images/train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val: dataset/images/val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names: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0: BOX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폴더 구조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conveyor_od/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data.yaml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dataset/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images/train/  box_000000.jpg ...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images/val/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labels/train/  box_000000.txt ...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labels/val/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경로는 data.yaml 위치 기준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labels는 images와 같은 구조로 자동 매칭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names의 0번이 라벨 파일의 class 0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클래스를 늘리면 names에 추가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5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YOLO11n 학습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od_train.py · CUDA · MPS · CPU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장치 자동 선택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AI_Training/conveyor_od/od_train.py (발췌)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select_device():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torch.cuda.is_available():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0          # NVIDIA GPU (Windows / Ubuntu)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mps = getattr(torch.backends, "mps", None)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mps is not None and mps.is_available():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"mps"     # Apple Silicon Mac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"cpu"         # 그 외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GPU가 있으면 0번 GPU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M1~M4 Mac은 mps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없으면 cpu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시작할 때 [DEVICE]로 출력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학습 한 줄: model.train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AI_Training/conveyor_od/od_train.py (발췌)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YOLO(str(MODEL_PATH))     # yolo11n.pt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model.train(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data=str(DATA_PATH),          # data.yaml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epochs=50,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imgsz=640,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batch=16,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project=str(BASE_DIR / "runs"),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name="box_train",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device=device,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save_period=5,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사전학습 모델에서 출발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50회 반복, 640 크기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결과는 runs/box_train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5 epoch마다 중간 저장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학습 옵션과 조절 방법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463040"/>
                <a:gridCol w="74066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옵션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값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바꾸면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epochs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50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줄이면 빨리 끝남, 늘리면 더 정밀 (과적합 주의)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imgsz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640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작게 하면 빠르지만 작은 물체를 놓침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batch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16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메모리 부족 오류 시 8 또는 4로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device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자동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CPU만 있으면 시간이 크게 늘어남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save_period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</a:rPr>
                        <a:t>중간 가중치를 5 epoch마다 저장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8794"/>
                </a:solidFill>
              </a:rPr>
              <a:t>CPU 교육장에서는 epochs를 10~20으로 줄여 시연하고, 완성 모델은 강사가 미리 준비해 둔다.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실습: 학습 실행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1391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13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cd AI_Training/conveyor_od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24028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python od_train.py 실행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5127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10896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[DEVICE] 0 / mps / cpu 확인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199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97764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epoch마다 box_loss가 줄어드는지 관찰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08863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88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84632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끝나면 runs/box_train/weights/best.pt 확인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92440" y="137160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1488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오류 없이 1 epoch 완료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loss 감소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best.pt 생성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학습이 끝나면 생기는 것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weights/best.pt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검증 성능이 가장 좋은 모델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od_run.py가 이 파일을 사용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37160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248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weights/last.pt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19456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마지막 epoch의 모델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이어서 학습할 때 사용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371600"/>
            <a:ext cx="3505200" cy="2163699"/>
          </a:xfrm>
          <a:prstGeom prst="roundRect">
            <a:avLst>
              <a:gd name="adj" fmla="val 5071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results.png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194560"/>
            <a:ext cx="2956560" cy="1157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loss와 mAP 변화 그래프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학습이 잘 됐는지 한눈에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855339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od_run.py는 runs/box_train/weights/best.pt를 읽는다. 폴더가 box_train2로 생겼다면 이름을 맞춰야 한다.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학습 곡선 읽기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328291"/>
          </a:xfrm>
          <a:prstGeom prst="roundRect">
            <a:avLst>
              <a:gd name="adj" fmla="val 47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잘 된 학습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484632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train·val loss 모두 감소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mAP50이 높게 올라가 유지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val 이미지에서 상자가 정확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2328291"/>
          </a:xfrm>
          <a:prstGeom prst="roundRect">
            <a:avLst>
              <a:gd name="adj" fmla="val 471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A900"/>
                </a:solidFill>
              </a:rPr>
              <a:t>문제 있는 학습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240280"/>
            <a:ext cx="4846320" cy="123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val loss만 다시 상승 → 과적합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mAP가 낮게 정체 → 데이터 부족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라벨 짝 오류 → loss가 안 줄어듦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19931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문제가 보이면 모델보다 데이터를 먼저 의심한다. 4교시 폴더 정리를 다시 확인한다.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5교시 문제 해결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206240" cy="1005840"/>
          </a:xfrm>
          <a:prstGeom prst="roundRect">
            <a:avLst>
              <a:gd name="adj" fmla="val 10909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</a:rPr>
              <a:t>CUDA out of memory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846320" y="1755648"/>
            <a:ext cx="365760" cy="237744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49240" y="1371600"/>
            <a:ext cx="6263640" cy="1005840"/>
          </a:xfrm>
          <a:prstGeom prst="roundRect">
            <a:avLst>
              <a:gd name="adj" fmla="val 10909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532120" y="1371600"/>
            <a:ext cx="5897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batch=8 또는 4로 줄여 다시 실행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4206240" cy="1005840"/>
          </a:xfrm>
          <a:prstGeom prst="roundRect">
            <a:avLst>
              <a:gd name="adj" fmla="val 10909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5146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</a:rPr>
              <a:t>No labels found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2898648"/>
            <a:ext cx="365760" cy="237744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49240" y="2514600"/>
            <a:ext cx="6263640" cy="1005840"/>
          </a:xfrm>
          <a:prstGeom prst="roundRect">
            <a:avLst>
              <a:gd name="adj" fmla="val 10909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32120" y="2514600"/>
            <a:ext cx="5897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labels 폴더 구조가 images와 같은지, txt 이름이 같은지 확인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4206240" cy="1005840"/>
          </a:xfrm>
          <a:prstGeom prst="roundRect">
            <a:avLst>
              <a:gd name="adj" fmla="val 10909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6576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</a:rPr>
              <a:t>yolo11n.pt 다운로드 실패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4041648"/>
            <a:ext cx="365760" cy="237744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49240" y="3657600"/>
            <a:ext cx="6263640" cy="1005840"/>
          </a:xfrm>
          <a:prstGeom prst="roundRect">
            <a:avLst>
              <a:gd name="adj" fmla="val 10909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32120" y="3657600"/>
            <a:ext cx="5897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인터넷 확인 또는 강사 PC에서 파일 복사해 conveyor_od에 두기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800600"/>
            <a:ext cx="4206240" cy="1005840"/>
          </a:xfrm>
          <a:prstGeom prst="roundRect">
            <a:avLst>
              <a:gd name="adj" fmla="val 10909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8006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</a:rPr>
              <a:t>학습이 너무 느림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5184648"/>
            <a:ext cx="365760" cy="237744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49240" y="4800600"/>
            <a:ext cx="6263640" cy="1005840"/>
          </a:xfrm>
          <a:prstGeom prst="roundRect">
            <a:avLst>
              <a:gd name="adj" fmla="val 10909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32120" y="4800600"/>
            <a:ext cx="5897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CPU라면 epochs를 10~20으로 줄이고 완성 모델로 시연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23160"/>
            <a:ext cx="1188720" cy="118872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6</a:t>
            </a:r>
            <a:endParaRPr lang="en-US" sz="3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실시간 추론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VisionCemeraSender.cs → HTTP :8000 → od_run.py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영상은 HTTP로, 결과는 화면으로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Unity VisionRT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카메라 렌더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텍스처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96312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43784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80944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JPEG 인코딩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980944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품질 80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초당 30장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91456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38928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76088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HTTP POST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276088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127.0.0.1:8000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/frame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86600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34072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71232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od_run.py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571232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Flask 수신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YOLO 추론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381744" y="2834640"/>
            <a:ext cx="283464" cy="274320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29216" y="2011680"/>
            <a:ext cx="1883664" cy="1920240"/>
          </a:xfrm>
          <a:prstGeom prst="roundRect">
            <a:avLst>
              <a:gd name="adj" fmla="val 5825"/>
            </a:avLst>
          </a:prstGeom>
          <a:solidFill>
            <a:srgbClr val="EEF2F5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66376" y="219456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결과 창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866376" y="27889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상자 표시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[DETECT] 로그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2976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제어용 Modbus(1502)와 영상용 HTTP(8000)는 별개다. 둘을 동시에 돌릴 수 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Unity: 프레임을 JPEG로 보내기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ConveyorURP/Assets/Scripts/VisionCemeraSender.cs (발췌)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string serverUrl = "http://127.0.0.1:8000/frame";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float sendInterval = 1.0f / 30.0f;   // 30 FPS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 jpegQuality = 80;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VisionRT 읽기 → JPEG 변환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byte[] jpegData = captureTexture.EncodeToJPG(jpegQuality);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(UnityWebRequest request = new UnityWebRequest(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serverUrl, UnityWebRequest.kHttpVerbPOST))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request.uploadHandler = new UploadHandlerRaw(jpegData);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request.SetRequestHeader("Content-Type", "image/jpeg");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yield return request.SendWebRequest();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파일 이름 VisionCemeraSender.cs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클래스 이름 VisionCameraSender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서버가 없으면 HTTP Error 경고만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전송 주기는 Inspector에서 조절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Python: 받아서 추론하기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AI_Training/conveyor_od/od_run.py (발췌)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@app.route("/frame", methods=["POST"])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receive_frame():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jpeg_data = request.data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np_data = np.frombuffer(jpeg_data, dtype=np.uint8)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frame = cv2.imdecode(np_data, cv2.IMREAD_COLOR)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results = model.predict(source=frame, conf=0.5,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verbose=False)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results[0]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display_frame = result.plot()      # 상자 그리기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SHOW_WINDOW: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cv2.imshow("YOLO - Unity Vision Camera", display_frame)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cv2.waitKey(1)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"OK", 200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JPEG 바이트 → 숫자 배열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conf 0.5 이상만 검출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result.plot()이 상자를 그림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화면 없는 Linux는 창 생략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검출 로그 읽기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949440" cy="4709160"/>
          </a:xfrm>
          <a:prstGeom prst="roundRect">
            <a:avLst>
              <a:gd name="adj" fmla="val 1553"/>
            </a:avLst>
          </a:prstGeom>
          <a:solidFill>
            <a:srgbClr val="1E2A36"/>
          </a:solidFill>
          <a:ln w="12700">
            <a:solidFill>
              <a:srgbClr val="1E2A3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AI_Training/conveyor_od/od_run.py (발췌)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box in result.boxes: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class_id = int(box.cls[0])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confidence = float(box.conf[0])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x1, y1, x2, y2 = box.xyxy[0].tolist()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class_name = model.names[class_id]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f"[DETECT] "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f"{class_name} "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f"Conf={confidence:.2f} "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f"Box=({x1:.0f},{y1:.0f})-({x2:.0f},{y2:.0f})"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417320"/>
            <a:ext cx="382219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cls: 클래스 번호 → BOX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conf: 신뢰도 0~1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xyxy: 왼쪽 위·오른쪽 아래 픽셀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라벨 파일(중심·너비)과 표현이 다름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실습: 실시간 검출 실행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1391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13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7160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cd AI_Training/conveyor_od → python od_run.py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825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24028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[MODEL] Loaded, [HTTP] Server Started 확인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5127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10896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Unity 실행 (VisionCameraSender 활성 상태)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21995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19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97764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컨베이어를 움직이며 YOLO 창의 상자 확인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088636"/>
            <a:ext cx="384048" cy="384048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886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84632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창에서 q를 누르면 창 닫힘, 종료는 콘솔 Ctrl+C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92440" y="1371600"/>
            <a:ext cx="3547872" cy="4663440"/>
          </a:xfrm>
          <a:prstGeom prst="roundRect">
            <a:avLst>
              <a:gd name="adj" fmla="val 309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확인 포인트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14884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[DETECT] BOX Conf=0.9x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박스를 따라 상자가 움직임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박스 없으면 로그 없음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od_run.py만 쓰는 이유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604516"/>
          </a:xfrm>
          <a:prstGeom prst="roundRect">
            <a:avLst>
              <a:gd name="adj" fmla="val 42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od_run.py (Flask)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4846320" cy="1507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수신 + YOLO 추론 + 창 표시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교재에서 사용하는 파일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threaded=False (macOS 창 제약)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2604516"/>
          </a:xfrm>
          <a:prstGeom prst="roundRect">
            <a:avLst>
              <a:gd name="adj" fmla="val 421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00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2A900"/>
                </a:solidFill>
              </a:rPr>
              <a:t>vision_server.py (FastAPI)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240280"/>
            <a:ext cx="4846320" cy="1507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영상 수신만, 추론 없음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같은 8000 포트 사용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두 개를 동시에 켜면 충돌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96156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8000 포트는 한 번에 한 프로그램만 쓸 수 있다. 오늘은 od_run.py 하나만 실행한다.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검출 결과로 무엇을 할 수 있나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520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존재 확인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295656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센서 없이 박스 유무 판단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센서 고장 진단에 활용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8160" y="1371600"/>
            <a:ext cx="3505200" cy="1887474"/>
          </a:xfrm>
          <a:prstGeom prst="roundRect">
            <a:avLst>
              <a:gd name="adj" fmla="val 581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248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위치 추적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602480" y="2194560"/>
            <a:ext cx="295656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상자 좌표로 박스 위치 계산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센서 사이 구간도 보임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07680" y="1371600"/>
            <a:ext cx="3505200" cy="1887474"/>
          </a:xfrm>
          <a:prstGeom prst="roundRect">
            <a:avLst>
              <a:gd name="adj" fmla="val 581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82000" y="1600200"/>
            <a:ext cx="295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2A900"/>
                </a:solidFill>
              </a:rPr>
              <a:t>분류 확장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382000" y="2194560"/>
            <a:ext cx="2956560" cy="88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색·불량 클래스 추가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불량품 선별 컨베이어로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579114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</a:rPr>
              <a:t>심화 과제: 검출 좌표가 화면 중앙을 지날 때 콘솔에 메시지를 출력해 보자.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자주 나는 문제와 해결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206240" cy="1005840"/>
          </a:xfrm>
          <a:prstGeom prst="roundRect">
            <a:avLst>
              <a:gd name="adj" fmla="val 10909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</a:rPr>
              <a:t>[ERROR] Model Not Found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846320" y="1755648"/>
            <a:ext cx="365760" cy="237744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49240" y="1371600"/>
            <a:ext cx="6263640" cy="1005840"/>
          </a:xfrm>
          <a:prstGeom prst="roundRect">
            <a:avLst>
              <a:gd name="adj" fmla="val 10909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532120" y="1371600"/>
            <a:ext cx="5897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runs/box_train/weights/best.pt 경로 확인 (box_train2 등 폴더 이름)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4206240" cy="1005840"/>
          </a:xfrm>
          <a:prstGeom prst="roundRect">
            <a:avLst>
              <a:gd name="adj" fmla="val 10909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5146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</a:rPr>
              <a:t>Unity: HTTP Error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2898648"/>
            <a:ext cx="365760" cy="237744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49240" y="2514600"/>
            <a:ext cx="6263640" cy="1005840"/>
          </a:xfrm>
          <a:prstGeom prst="roundRect">
            <a:avLst>
              <a:gd name="adj" fmla="val 10909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32120" y="2514600"/>
            <a:ext cx="5897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od_run.py가 실행 중인지, 8000 포트를 다른 서버가 쓰는지 확인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4206240" cy="1005840"/>
          </a:xfrm>
          <a:prstGeom prst="roundRect">
            <a:avLst>
              <a:gd name="adj" fmla="val 10909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6576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</a:rPr>
              <a:t>상자가 안 보임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4041648"/>
            <a:ext cx="365760" cy="237744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49240" y="3657600"/>
            <a:ext cx="6263640" cy="1005840"/>
          </a:xfrm>
          <a:prstGeom prst="roundRect">
            <a:avLst>
              <a:gd name="adj" fmla="val 10909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32120" y="3657600"/>
            <a:ext cx="5897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conf 0.5 기준. 데이터 부족이면 더 촬영해 재학습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800600"/>
            <a:ext cx="4206240" cy="1005840"/>
          </a:xfrm>
          <a:prstGeom prst="roundRect">
            <a:avLst>
              <a:gd name="adj" fmla="val 10909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8006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2A2A"/>
                </a:solidFill>
              </a:rPr>
              <a:t>창이 안 뜸 (Linux)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5184648"/>
            <a:ext cx="365760" cy="237744"/>
          </a:xfrm>
          <a:prstGeom prst="rightArrow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49240" y="4800600"/>
            <a:ext cx="6263640" cy="1005840"/>
          </a:xfrm>
          <a:prstGeom prst="roundRect">
            <a:avLst>
              <a:gd name="adj" fmla="val 10909"/>
            </a:avLst>
          </a:prstGeom>
          <a:solidFill>
            <a:srgbClr val="E8F4EE"/>
          </a:solidFill>
          <a:ln w="12700">
            <a:solidFill>
              <a:srgbClr val="E8F4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32120" y="4800600"/>
            <a:ext cx="5897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</a:rPr>
              <a:t>화면 없는 환경이면 [DETECT] 로그만 출력되는 것이 정상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확인 문제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371600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il_dataset.csv에서 같은 (Sensor01, Sensor02, LastSensor) 상태에 동작이 두 가지 이상이면 무엇을 의미하는가?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50008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500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304288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분류와 검출의 차이를 한 문장으로 설명하시오.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282696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2826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236976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YOLO 라벨 한 줄 "0 0.5 0.4 0.1 0.2"의 각 값의 의미는?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215384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153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169664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YoloDatasetCapture에서 박스가 없을 때 빈 txt 파일을 만드는 이유는?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5148072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148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Q5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5102352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</a:rPr>
              <a:t>Unity 영상과 PLC 제어 신호는 각각 어떤 통신과 포트를 쓰는가?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오늘 정리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5544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pandas로 동작 분포·상태 전이·일관성을 확인했다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33172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il_visualize.py 그래프 세 개로 데이터를 읽었다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10896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디지털트윈이 이미지와 라벨을 자동으로 만들어 준다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88620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YOLO11n을 학습시켜 best.pt를 얻었다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47091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66344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Unity → HTTP 8000 → od_run.py로 실시간 검출했다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2B4A68"/>
          </a:solidFill>
          <a:ln w="12700">
            <a:solidFill>
              <a:srgbClr val="2B4A6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54864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</a:rPr>
              <a:t>다음 시간  5일차 · AI 강화학습과 통합 제어</a:t>
            </a:r>
            <a:endParaRPr lang="en-US" sz="1600" dirty="0"/>
          </a:p>
        </p:txBody>
      </p:sp>
      <p:sp>
        <p:nvSpPr>
          <p:cNvPr id="21" name="Text 0"/>
          <p:cNvSpPr/>
          <p:nvPr>
            <p:ph idx="100" type="title" hasCustomPrompt="1"/>
          </p:nvPr>
        </p:nvSpPr>
        <p:spPr>
          <a:xfrm>
            <a:off x="2194560" y="251460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2" name="Text 0"/>
          <p:cNvSpPr/>
          <p:nvPr>
            <p:ph idx="101" type="body" hasCustomPrompt="1"/>
          </p:nvPr>
        </p:nvSpPr>
        <p:spPr>
          <a:xfrm>
            <a:off x="2194560" y="356616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64008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D3D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Factory Steel">
  <a:themeElements>
    <a:clrScheme name="SmartFactory Steel">
      <a:dk1>
        <a:srgbClr val="1B2733"/>
      </a:dk1>
      <a:lt1>
        <a:srgbClr val="FFFFFF"/>
      </a:lt1>
      <a:dk2>
        <a:srgbClr val="17324D"/>
      </a:dk2>
      <a:lt2>
        <a:srgbClr val="EEF2F5"/>
      </a:lt2>
      <a:accent1>
        <a:srgbClr val="F2A900"/>
      </a:accent1>
      <a:accent2>
        <a:srgbClr val="2E9E6B"/>
      </a:accent2>
      <a:accent3>
        <a:srgbClr val="D64545"/>
      </a:accent3>
      <a:accent4>
        <a:srgbClr val="3D7EA6"/>
      </a:accent4>
      <a:accent5>
        <a:srgbClr val="7A8794"/>
      </a:accent5>
      <a:accent6>
        <a:srgbClr val="C9D3DC"/>
      </a:accent6>
      <a:hlink>
        <a:srgbClr val="1F6FB2"/>
      </a:hlink>
      <a:folHlink>
        <a:srgbClr val="6B4FA0"/>
      </a:folHlink>
    </a:clrScheme>
    <a:fontScheme name="SmartFactory Steel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57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스마트제조 기초실습 4일차 - 생산 데이터 분석 및 AI Vision</dc:title>
  <dc:subject>PptxGenJS Presentation</dc:subject>
  <dc:creator>TWINIEX</dc:creator>
  <cp:lastModifiedBy>TWINIEX</cp:lastModifiedBy>
  <cp:revision>1</cp:revision>
  <dcterms:created xsi:type="dcterms:W3CDTF">2026-10-19T04:37:08Z</dcterms:created>
  <dcterms:modified xsi:type="dcterms:W3CDTF">2026-10-19T04:37:08Z</dcterms:modified>
</cp:coreProperties>
</file>